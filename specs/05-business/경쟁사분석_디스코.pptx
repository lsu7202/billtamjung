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A7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55448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8FB0FF"/>
                </a:solidFill>
                <a:latin typeface="Malgun Gothic"/>
              </a:rPr>
              <a:t>경쟁사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Malgun Gothic"/>
              </a:rPr>
              <a:t>디스코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2004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B8C4DE"/>
                </a:solidFill>
                <a:latin typeface="Malgun Gothic"/>
              </a:rPr>
              <a:t>Disco  —  무료 부동산 데이터 조회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977639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C8D4EE"/>
                </a:solidFill>
                <a:latin typeface="Malgun Gothic"/>
              </a:rPr>
              <a:t>지도 기반 실거래가·대장·공시·등기·토지특성 조회 + 경량 매물등록.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4800600"/>
            <a:ext cx="1417320" cy="310896"/>
          </a:xfrm>
          <a:prstGeom prst="rect">
            <a:avLst/>
          </a:prstGeom>
          <a:solidFill>
            <a:srgbClr val="2A7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485089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직접 사용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603504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9AA8C8"/>
                </a:solidFill>
                <a:latin typeface="Malgun Gothic"/>
              </a:rPr>
              <a:t>시장 조사 자료 · 2026.07 · 테스트 물건: 강남구 역삼동 601-5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2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548640"/>
          </a:xfrm>
          <a:prstGeom prst="rect">
            <a:avLst/>
          </a:prstGeom>
          <a:solidFill>
            <a:srgbClr val="2A7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3716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algun Gothic"/>
              </a:rPr>
              <a:t>경쟁사 분석  ·  디스코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76895" y="15544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B8C4DE"/>
                </a:solidFill>
                <a:latin typeface="Malgun Gothic"/>
              </a:rPr>
              <a:t>01 · 직접 써보니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A7D46"/>
                </a:solidFill>
                <a:latin typeface="Malgun Gothic"/>
              </a:rPr>
              <a:t>디스코 — 직접 써보니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33271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1C2430"/>
                </a:solidFill>
                <a:latin typeface="Malgun Gothic"/>
              </a:rPr>
              <a:t>건물 하나하나의 원본 열람이 강하다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6446520" y="804672"/>
            <a:ext cx="1417320" cy="310896"/>
          </a:xfrm>
          <a:prstGeom prst="rect">
            <a:avLst/>
          </a:prstGeom>
          <a:solidFill>
            <a:srgbClr val="2A7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854964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직접 사용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600200"/>
            <a:ext cx="576072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A4FC0"/>
                </a:solidFill>
                <a:latin typeface="Malgun Gothic"/>
              </a:rPr>
              <a:t>• </a:t>
            </a:r>
            <a:r>
              <a:rPr sz="1200" b="1">
                <a:solidFill>
                  <a:srgbClr val="1C2430"/>
                </a:solidFill>
                <a:latin typeface="Malgun Gothic"/>
              </a:rPr>
              <a:t>검색</a:t>
            </a:r>
            <a:r>
              <a:rPr sz="1100" b="0">
                <a:solidFill>
                  <a:srgbClr val="5A6572"/>
                </a:solidFill>
                <a:latin typeface="Malgun Gothic"/>
              </a:rPr>
              <a:t> — '역삼동 601-5' 입력→자동완성 즉시, 지번·도로명·부속지번까지</a:t>
            </a:r>
          </a:p>
          <a:p>
            <a:pPr algn="l">
              <a:spcAft>
                <a:spcPts val="700"/>
              </a:spcAft>
            </a:pPr>
            <a:r>
              <a:rPr sz="1200" b="1">
                <a:solidFill>
                  <a:srgbClr val="1A4FC0"/>
                </a:solidFill>
                <a:latin typeface="Malgun Gothic"/>
              </a:rPr>
              <a:t>• </a:t>
            </a:r>
            <a:r>
              <a:rPr sz="1200" b="1">
                <a:solidFill>
                  <a:srgbClr val="1C2430"/>
                </a:solidFill>
                <a:latin typeface="Malgun Gothic"/>
              </a:rPr>
              <a:t>지도</a:t>
            </a:r>
            <a:r>
              <a:rPr sz="1100" b="0">
                <a:solidFill>
                  <a:srgbClr val="5A6572"/>
                </a:solidFill>
                <a:latin typeface="Malgun Gothic"/>
              </a:rPr>
              <a:t> — 화면 모든 건물에 실거래가·평당가 라벨이 이미 얹혀 있음(압도적 밀도)</a:t>
            </a:r>
          </a:p>
          <a:p>
            <a:pPr algn="l">
              <a:spcAft>
                <a:spcPts val="700"/>
              </a:spcAft>
            </a:pPr>
            <a:r>
              <a:rPr sz="1200" b="1">
                <a:solidFill>
                  <a:srgbClr val="1A4FC0"/>
                </a:solidFill>
                <a:latin typeface="Malgun Gothic"/>
              </a:rPr>
              <a:t>• </a:t>
            </a:r>
            <a:r>
              <a:rPr sz="1200" b="1">
                <a:solidFill>
                  <a:srgbClr val="1C2430"/>
                </a:solidFill>
                <a:latin typeface="Malgun Gothic"/>
              </a:rPr>
              <a:t>건물 상세</a:t>
            </a:r>
            <a:r>
              <a:rPr sz="1100" b="0">
                <a:solidFill>
                  <a:srgbClr val="5A6572"/>
                </a:solidFill>
                <a:latin typeface="Malgun Gothic"/>
              </a:rPr>
              <a:t> — 클릭 한 번→실거래가·경매·토지·건물(대장)·등기 탭 전환</a:t>
            </a:r>
          </a:p>
          <a:p>
            <a:pPr algn="l">
              <a:spcAft>
                <a:spcPts val="700"/>
              </a:spcAft>
            </a:pPr>
            <a:r>
              <a:rPr sz="1200" b="1">
                <a:solidFill>
                  <a:srgbClr val="1A4FC0"/>
                </a:solidFill>
                <a:latin typeface="Malgun Gothic"/>
              </a:rPr>
              <a:t>• </a:t>
            </a:r>
            <a:r>
              <a:rPr sz="1200" b="1">
                <a:solidFill>
                  <a:srgbClr val="1C2430"/>
                </a:solidFill>
                <a:latin typeface="Malgun Gothic"/>
              </a:rPr>
              <a:t>실거래 이력</a:t>
            </a:r>
            <a:r>
              <a:rPr sz="1100" b="0">
                <a:solidFill>
                  <a:srgbClr val="5A6572"/>
                </a:solidFill>
                <a:latin typeface="Malgun Gothic"/>
              </a:rPr>
              <a:t> — 601-5 = 매매 69억('19.02)·40.5억('09.10) 2건 + 등기 링크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526280"/>
            <a:ext cx="5760720" cy="1645920"/>
          </a:xfrm>
          <a:prstGeom prst="rect">
            <a:avLst/>
          </a:prstGeom>
          <a:solidFill>
            <a:srgbClr val="F5F8FC"/>
          </a:solidFill>
          <a:ln w="9525">
            <a:solidFill>
              <a:srgbClr val="E6EA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4663440"/>
            <a:ext cx="539496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2A7D46"/>
                </a:solidFill>
                <a:latin typeface="Malgun Gothic"/>
              </a:rPr>
              <a:t>강점  </a:t>
            </a:r>
            <a:r>
              <a:rPr sz="1100" b="0">
                <a:solidFill>
                  <a:srgbClr val="1C2430"/>
                </a:solidFill>
                <a:latin typeface="Malgun Gothic"/>
              </a:rPr>
              <a:t>개별 건물의 원본 데이터 깊이 + 서울 전역 커버리지. '동네 시세 감' 잡는 데 탁월.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1A4FC0"/>
                </a:solidFill>
                <a:latin typeface="Malgun Gothic"/>
              </a:rPr>
              <a:t>수익모델  </a:t>
            </a:r>
            <a:r>
              <a:rPr sz="1100" b="0">
                <a:solidFill>
                  <a:srgbClr val="1C2430"/>
                </a:solidFill>
                <a:latin typeface="Malgun Gothic"/>
              </a:rPr>
              <a:t>'우리동네 공인중개사'(PRO 배지) 노출·전화연결 = 중개사 광고/리드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C0392B"/>
                </a:solidFill>
                <a:latin typeface="Malgun Gothic"/>
              </a:rPr>
              <a:t>한계  </a:t>
            </a:r>
            <a:r>
              <a:rPr sz="1100" b="0">
                <a:solidFill>
                  <a:srgbClr val="1C2430"/>
                </a:solidFill>
                <a:latin typeface="Malgun Gothic"/>
              </a:rPr>
              <a:t>건물을 '찍어서 여는' 데 최적화 → 조건으로 후보를 좁히는 검색은 약함(다음 장)</a:t>
            </a:r>
          </a:p>
        </p:txBody>
      </p:sp>
      <p:pic>
        <p:nvPicPr>
          <p:cNvPr id="13" name="Picture 12" descr="disco_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371600"/>
            <a:ext cx="5394960" cy="3559175"/>
          </a:xfrm>
          <a:prstGeom prst="rect">
            <a:avLst/>
          </a:prstGeom>
          <a:ln w="9525">
            <a:solidFill>
              <a:srgbClr val="E6EAEF"/>
            </a:solidFill>
          </a:ln>
        </p:spPr>
      </p:pic>
      <p:sp>
        <p:nvSpPr>
          <p:cNvPr id="14" name="TextBox 13"/>
          <p:cNvSpPr txBox="1"/>
          <p:nvPr/>
        </p:nvSpPr>
        <p:spPr>
          <a:xfrm>
            <a:off x="6446520" y="5532120"/>
            <a:ext cx="5394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A6572"/>
                </a:solidFill>
                <a:latin typeface="Malgun Gothic"/>
              </a:rPr>
              <a:t>▲ 직접 검색: 역삼동 601-5 상세 — 실거래 69억·거래내역 2건·탭 5종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62895" y="6510528"/>
            <a:ext cx="14630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AAB2BC"/>
                </a:solidFill>
                <a:latin typeface="Malgun Gothic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2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548640"/>
          </a:xfrm>
          <a:prstGeom prst="rect">
            <a:avLst/>
          </a:prstGeom>
          <a:solidFill>
            <a:srgbClr val="2A7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3716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algun Gothic"/>
              </a:rPr>
              <a:t>경쟁사 분석  ·  디스코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76895" y="15544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B8C4DE"/>
                </a:solidFill>
                <a:latin typeface="Malgun Gothic"/>
              </a:rPr>
              <a:t>02 · 조건 검색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A7D46"/>
                </a:solidFill>
                <a:latin typeface="Malgun Gothic"/>
              </a:rPr>
              <a:t>조건 검색은 의외로 얕다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33271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1C2430"/>
                </a:solidFill>
                <a:latin typeface="Malgun Gothic"/>
              </a:rPr>
              <a:t>'찾기'보다 '열람'에 맞춰진 필터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1417320" cy="310896"/>
          </a:xfrm>
          <a:prstGeom prst="rect">
            <a:avLst/>
          </a:prstGeom>
          <a:solidFill>
            <a:srgbClr val="2A7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60477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직접 사용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103120"/>
            <a:ext cx="5760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1C2430"/>
                </a:solidFill>
                <a:latin typeface="Malgun Gothic"/>
              </a:rPr>
              <a:t>필터 패널에서 제공하는 조건 (전부)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606040"/>
            <a:ext cx="576072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A4FC0"/>
                </a:solidFill>
                <a:latin typeface="Malgun Gothic"/>
              </a:rPr>
              <a:t>• </a:t>
            </a:r>
            <a:r>
              <a:rPr sz="1200" b="1">
                <a:solidFill>
                  <a:srgbClr val="1C2430"/>
                </a:solidFill>
                <a:latin typeface="Malgun Gothic"/>
              </a:rPr>
              <a:t>부동산 유형</a:t>
            </a:r>
            <a:r>
              <a:rPr sz="1100" b="0">
                <a:solidFill>
                  <a:srgbClr val="5A6572"/>
                </a:solidFill>
                <a:latin typeface="Malgun Gothic"/>
              </a:rPr>
              <a:t> — 상업용건물·상가·토지·단독 등 10종</a:t>
            </a:r>
          </a:p>
          <a:p>
            <a:pPr algn="l">
              <a:spcAft>
                <a:spcPts val="700"/>
              </a:spcAft>
            </a:pPr>
            <a:r>
              <a:rPr sz="1200" b="1">
                <a:solidFill>
                  <a:srgbClr val="1A4FC0"/>
                </a:solidFill>
                <a:latin typeface="Malgun Gothic"/>
              </a:rPr>
              <a:t>• </a:t>
            </a:r>
            <a:r>
              <a:rPr sz="1200" b="1">
                <a:solidFill>
                  <a:srgbClr val="1C2430"/>
                </a:solidFill>
                <a:latin typeface="Malgun Gothic"/>
              </a:rPr>
              <a:t>마커 유형</a:t>
            </a:r>
            <a:r>
              <a:rPr sz="1100" b="0">
                <a:solidFill>
                  <a:srgbClr val="5A6572"/>
                </a:solidFill>
                <a:latin typeface="Malgun Gothic"/>
              </a:rPr>
              <a:t> — 매물 / 경매 / 실거래가 표시 토글</a:t>
            </a:r>
          </a:p>
          <a:p>
            <a:pPr algn="l">
              <a:spcAft>
                <a:spcPts val="700"/>
              </a:spcAft>
            </a:pPr>
            <a:r>
              <a:rPr sz="1200" b="1">
                <a:solidFill>
                  <a:srgbClr val="1A4FC0"/>
                </a:solidFill>
                <a:latin typeface="Malgun Gothic"/>
              </a:rPr>
              <a:t>• </a:t>
            </a:r>
            <a:r>
              <a:rPr sz="1200" b="1">
                <a:solidFill>
                  <a:srgbClr val="1C2430"/>
                </a:solidFill>
                <a:latin typeface="Malgun Gothic"/>
              </a:rPr>
              <a:t>실거래 기간</a:t>
            </a:r>
            <a:r>
              <a:rPr sz="1100" b="0">
                <a:solidFill>
                  <a:srgbClr val="5A6572"/>
                </a:solidFill>
                <a:latin typeface="Malgun Gothic"/>
              </a:rPr>
              <a:t> — 2006년 ~ 현재</a:t>
            </a:r>
          </a:p>
          <a:p>
            <a:pPr algn="l">
              <a:spcAft>
                <a:spcPts val="700"/>
              </a:spcAft>
            </a:pPr>
            <a:r>
              <a:rPr sz="1200" b="1">
                <a:solidFill>
                  <a:srgbClr val="1A4FC0"/>
                </a:solidFill>
                <a:latin typeface="Malgun Gothic"/>
              </a:rPr>
              <a:t>• </a:t>
            </a:r>
            <a:r>
              <a:rPr sz="1200" b="1">
                <a:solidFill>
                  <a:srgbClr val="1C2430"/>
                </a:solidFill>
                <a:latin typeface="Malgun Gothic"/>
              </a:rPr>
              <a:t>거래가격</a:t>
            </a:r>
            <a:r>
              <a:rPr sz="1100" b="0">
                <a:solidFill>
                  <a:srgbClr val="5A6572"/>
                </a:solidFill>
                <a:latin typeface="Malgun Gothic"/>
              </a:rPr>
              <a:t> — ㎡당 또는 총액 range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892040"/>
            <a:ext cx="5760720" cy="1371600"/>
          </a:xfrm>
          <a:prstGeom prst="rect">
            <a:avLst/>
          </a:prstGeom>
          <a:solidFill>
            <a:srgbClr val="FBEEEC"/>
          </a:solidFill>
          <a:ln w="952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5029200"/>
            <a:ext cx="539496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>
                <a:solidFill>
                  <a:srgbClr val="C0392B"/>
                </a:solidFill>
                <a:latin typeface="Malgun Gothic"/>
              </a:rPr>
              <a:t>없는 조건  </a:t>
            </a:r>
            <a:r>
              <a:rPr sz="1100" b="0">
                <a:solidFill>
                  <a:srgbClr val="1C2430"/>
                </a:solidFill>
                <a:latin typeface="Malgun Gothic"/>
              </a:rPr>
              <a:t>용도지역 · 대지/연면적 규모 · 건폐율/용적률 · 연식(사용승인) · 도로접면 · 층수 · 주차 · 수익률 · 경사도 등</a:t>
            </a:r>
          </a:p>
          <a:p>
            <a:pPr algn="l">
              <a:spcAft>
                <a:spcPts val="300"/>
              </a:spcAft>
            </a:pPr>
            <a:r>
              <a:rPr sz="1100" b="1">
                <a:solidFill>
                  <a:srgbClr val="1C2430"/>
                </a:solidFill>
                <a:latin typeface="Malgun Gothic"/>
              </a:rPr>
              <a:t>→ </a:t>
            </a:r>
            <a:r>
              <a:rPr sz="1100" b="1">
                <a:solidFill>
                  <a:srgbClr val="1C2430"/>
                </a:solidFill>
                <a:latin typeface="Malgun Gothic"/>
              </a:rPr>
              <a:t>'유형+가격대'로만 거를 수 있어, 조건으로 매물 후보를 발굴하는 검색엔 부적합.</a:t>
            </a:r>
          </a:p>
        </p:txBody>
      </p:sp>
      <p:pic>
        <p:nvPicPr>
          <p:cNvPr id="14" name="Picture 13" descr="disco_fil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371600"/>
            <a:ext cx="5394960" cy="3559175"/>
          </a:xfrm>
          <a:prstGeom prst="rect">
            <a:avLst/>
          </a:prstGeom>
          <a:ln w="9525">
            <a:solidFill>
              <a:srgbClr val="E6EAEF"/>
            </a:solidFill>
          </a:ln>
        </p:spPr>
      </p:pic>
      <p:sp>
        <p:nvSpPr>
          <p:cNvPr id="15" name="TextBox 14"/>
          <p:cNvSpPr txBox="1"/>
          <p:nvPr/>
        </p:nvSpPr>
        <p:spPr>
          <a:xfrm>
            <a:off x="6446520" y="5577840"/>
            <a:ext cx="5394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A6572"/>
                </a:solidFill>
                <a:latin typeface="Malgun Gothic"/>
              </a:rPr>
              <a:t>▲ 지도 필터 패널 실제 화면 — 유형·마커·기간·가격이 전부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62895" y="6510528"/>
            <a:ext cx="14630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AAB2BC"/>
                </a:solidFill>
                <a:latin typeface="Malgun Gothic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2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548640"/>
          </a:xfrm>
          <a:prstGeom prst="rect">
            <a:avLst/>
          </a:prstGeom>
          <a:solidFill>
            <a:srgbClr val="2A7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3716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algun Gothic"/>
              </a:rPr>
              <a:t>경쟁사 분석  ·  디스코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76895" y="15544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B8C4DE"/>
                </a:solidFill>
                <a:latin typeface="Malgun Gothic"/>
              </a:rPr>
              <a:t>03 · 데이터 깊이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A7D46"/>
                </a:solidFill>
                <a:latin typeface="Malgun Gothic"/>
              </a:rPr>
              <a:t>데이터는 있고, 해석은 없다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33271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1C2430"/>
                </a:solidFill>
                <a:latin typeface="Malgun Gothic"/>
              </a:rPr>
              <a:t>토지특성까지 원본 그대로 노출된다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1417320" cy="310896"/>
          </a:xfrm>
          <a:prstGeom prst="rect">
            <a:avLst/>
          </a:prstGeom>
          <a:solidFill>
            <a:srgbClr val="2A7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60477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직접 사용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057400"/>
            <a:ext cx="5760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1C2430"/>
                </a:solidFill>
                <a:latin typeface="Malgun Gothic"/>
              </a:rPr>
              <a:t>601-5 '토지' 탭에서 실제로 확인한 항목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606040"/>
            <a:ext cx="576072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A4FC0"/>
                </a:solidFill>
                <a:latin typeface="Malgun Gothic"/>
              </a:rPr>
              <a:t>• </a:t>
            </a:r>
            <a:r>
              <a:rPr sz="1200" b="1">
                <a:solidFill>
                  <a:srgbClr val="1C2430"/>
                </a:solidFill>
                <a:latin typeface="Malgun Gothic"/>
              </a:rPr>
              <a:t>도로접면</a:t>
            </a:r>
            <a:r>
              <a:rPr sz="1100" b="0">
                <a:solidFill>
                  <a:srgbClr val="5A6572"/>
                </a:solidFill>
                <a:latin typeface="Malgun Gothic"/>
              </a:rPr>
              <a:t> — 세로한면(가)</a:t>
            </a:r>
          </a:p>
          <a:p>
            <a:pPr algn="l">
              <a:spcAft>
                <a:spcPts val="700"/>
              </a:spcAft>
            </a:pPr>
            <a:r>
              <a:rPr sz="1200" b="1">
                <a:solidFill>
                  <a:srgbClr val="1A4FC0"/>
                </a:solidFill>
                <a:latin typeface="Malgun Gothic"/>
              </a:rPr>
              <a:t>• </a:t>
            </a:r>
            <a:r>
              <a:rPr sz="1200" b="1">
                <a:solidFill>
                  <a:srgbClr val="1C2430"/>
                </a:solidFill>
                <a:latin typeface="Malgun Gothic"/>
              </a:rPr>
              <a:t>지형형상</a:t>
            </a:r>
            <a:r>
              <a:rPr sz="1100" b="0">
                <a:solidFill>
                  <a:srgbClr val="5A6572"/>
                </a:solidFill>
                <a:latin typeface="Malgun Gothic"/>
              </a:rPr>
              <a:t> — 세로장방</a:t>
            </a:r>
          </a:p>
          <a:p>
            <a:pPr algn="l">
              <a:spcAft>
                <a:spcPts val="700"/>
              </a:spcAft>
            </a:pPr>
            <a:r>
              <a:rPr sz="1200" b="1">
                <a:solidFill>
                  <a:srgbClr val="1A4FC0"/>
                </a:solidFill>
                <a:latin typeface="Malgun Gothic"/>
              </a:rPr>
              <a:t>• </a:t>
            </a:r>
            <a:r>
              <a:rPr sz="1200" b="1">
                <a:solidFill>
                  <a:srgbClr val="1C2430"/>
                </a:solidFill>
                <a:latin typeface="Malgun Gothic"/>
              </a:rPr>
              <a:t>지형높이</a:t>
            </a:r>
            <a:r>
              <a:rPr sz="1100" b="0">
                <a:solidFill>
                  <a:srgbClr val="5A6572"/>
                </a:solidFill>
                <a:latin typeface="Malgun Gothic"/>
              </a:rPr>
              <a:t> — 평지</a:t>
            </a:r>
          </a:p>
          <a:p>
            <a:pPr algn="l">
              <a:spcAft>
                <a:spcPts val="700"/>
              </a:spcAft>
            </a:pPr>
            <a:r>
              <a:rPr sz="1200" b="1">
                <a:solidFill>
                  <a:srgbClr val="1A4FC0"/>
                </a:solidFill>
                <a:latin typeface="Malgun Gothic"/>
              </a:rPr>
              <a:t>• </a:t>
            </a:r>
            <a:r>
              <a:rPr sz="1200" b="1">
                <a:solidFill>
                  <a:srgbClr val="1C2430"/>
                </a:solidFill>
                <a:latin typeface="Malgun Gothic"/>
              </a:rPr>
              <a:t>용도지역</a:t>
            </a:r>
            <a:r>
              <a:rPr sz="1100" b="0">
                <a:solidFill>
                  <a:srgbClr val="5A6572"/>
                </a:solidFill>
                <a:latin typeface="Malgun Gothic"/>
              </a:rPr>
              <a:t> — 제3종일반주거지역 / 이용상황 주상기타</a:t>
            </a:r>
          </a:p>
          <a:p>
            <a:pPr algn="l">
              <a:spcAft>
                <a:spcPts val="700"/>
              </a:spcAft>
            </a:pPr>
            <a:r>
              <a:rPr sz="1200" b="1">
                <a:solidFill>
                  <a:srgbClr val="1A4FC0"/>
                </a:solidFill>
                <a:latin typeface="Malgun Gothic"/>
              </a:rPr>
              <a:t>• </a:t>
            </a:r>
            <a:r>
              <a:rPr sz="1200" b="1">
                <a:solidFill>
                  <a:srgbClr val="1C2430"/>
                </a:solidFill>
                <a:latin typeface="Malgun Gothic"/>
              </a:rPr>
              <a:t>공시지가·토지이용계획</a:t>
            </a:r>
            <a:r>
              <a:rPr sz="1100" b="0">
                <a:solidFill>
                  <a:srgbClr val="5A6572"/>
                </a:solidFill>
                <a:latin typeface="Malgun Gothic"/>
              </a:rPr>
              <a:t> — 규제(토지거래허가구역)까지 열람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5257800"/>
            <a:ext cx="5760720" cy="1051560"/>
          </a:xfrm>
          <a:prstGeom prst="rect">
            <a:avLst/>
          </a:prstGeom>
          <a:solidFill>
            <a:srgbClr val="EFF6EF"/>
          </a:solidFill>
          <a:ln w="9525">
            <a:solidFill>
              <a:srgbClr val="2A7D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5394960"/>
            <a:ext cx="53949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2A7D46"/>
                </a:solidFill>
                <a:latin typeface="Malgun Gothic"/>
              </a:rPr>
              <a:t>핵심 관찰  </a:t>
            </a:r>
            <a:r>
              <a:rPr sz="1100" b="0">
                <a:solidFill>
                  <a:srgbClr val="1C2430"/>
                </a:solidFill>
                <a:latin typeface="Malgun Gothic"/>
              </a:rPr>
              <a:t>입지·토지특성(도로접면·지형·용도)의 원본 데이터를 빠짐없이 노출한다.</a:t>
            </a:r>
          </a:p>
          <a:p>
            <a:pPr algn="l">
              <a:spcAft>
                <a:spcPts val="200"/>
              </a:spcAft>
            </a:pPr>
            <a:r>
              <a:rPr sz="400" b="1">
                <a:solidFill>
                  <a:srgbClr val="1C2430"/>
                </a:solidFill>
                <a:latin typeface="Malgun Gothic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1C2430"/>
                </a:solidFill>
                <a:latin typeface="Malgun Gothic"/>
              </a:rPr>
              <a:t>다만 이를 </a:t>
            </a:r>
            <a:r>
              <a:rPr sz="1100" b="1">
                <a:solidFill>
                  <a:srgbClr val="C0392B"/>
                </a:solidFill>
                <a:latin typeface="Malgun Gothic"/>
              </a:rPr>
              <a:t>하나의 점수·등급이나 추정가로 종합</a:t>
            </a:r>
            <a:r>
              <a:rPr sz="1100" b="1">
                <a:solidFill>
                  <a:srgbClr val="1C2430"/>
                </a:solidFill>
                <a:latin typeface="Malgun Gothic"/>
              </a:rPr>
              <a:t>하지는 않는다 — 판단은 사용자 몫.</a:t>
            </a:r>
          </a:p>
        </p:txBody>
      </p:sp>
      <p:pic>
        <p:nvPicPr>
          <p:cNvPr id="14" name="Picture 13" descr="disco_l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5945" y="1371600"/>
            <a:ext cx="2053068" cy="4937760"/>
          </a:xfrm>
          <a:prstGeom prst="rect">
            <a:avLst/>
          </a:prstGeom>
          <a:ln w="9525">
            <a:solidFill>
              <a:srgbClr val="E6EAEF"/>
            </a:solidFill>
          </a:ln>
        </p:spPr>
      </p:pic>
      <p:sp>
        <p:nvSpPr>
          <p:cNvPr id="15" name="TextBox 14"/>
          <p:cNvSpPr txBox="1"/>
          <p:nvPr/>
        </p:nvSpPr>
        <p:spPr>
          <a:xfrm>
            <a:off x="6400800" y="6355080"/>
            <a:ext cx="5760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A6572"/>
                </a:solidFill>
                <a:latin typeface="Malgun Gothic"/>
              </a:rPr>
              <a:t>▲ 601-5 토지 정보 실제 화면(도로접면·지형높이·지형형상)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62895" y="6510528"/>
            <a:ext cx="14630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AAB2BC"/>
                </a:solidFill>
                <a:latin typeface="Malgun Gothic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2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548640"/>
          </a:xfrm>
          <a:prstGeom prst="rect">
            <a:avLst/>
          </a:prstGeom>
          <a:solidFill>
            <a:srgbClr val="2A7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3716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algun Gothic"/>
              </a:rPr>
              <a:t>경쟁사 분석  ·  디스코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76895" y="15544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B8C4DE"/>
                </a:solidFill>
                <a:latin typeface="Malgun Gothic"/>
              </a:rPr>
              <a:t>04 · 종합 평가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77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A7D46"/>
                </a:solidFill>
                <a:latin typeface="Malgun Gothic"/>
              </a:rPr>
              <a:t>종합 평가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78992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1C2430"/>
                </a:solidFill>
                <a:latin typeface="Malgun Gothic"/>
              </a:rPr>
              <a:t>디스코의 한계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920240"/>
            <a:ext cx="11247120" cy="841248"/>
          </a:xfrm>
          <a:prstGeom prst="rect">
            <a:avLst/>
          </a:prstGeom>
          <a:solidFill>
            <a:srgbClr val="F5F8FC"/>
          </a:solidFill>
          <a:ln w="9525">
            <a:solidFill>
              <a:srgbClr val="E6EA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920240"/>
            <a:ext cx="91440" cy="841248"/>
          </a:xfrm>
          <a:prstGeom prst="rect">
            <a:avLst/>
          </a:prstGeom>
          <a:solidFill>
            <a:srgbClr val="2A7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039112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1C2430"/>
                </a:solidFill>
                <a:latin typeface="Malgun Gothic"/>
              </a:rPr>
              <a:t>조건 검색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2066544"/>
            <a:ext cx="7680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A6572"/>
                </a:solidFill>
                <a:latin typeface="Malgun Gothic"/>
              </a:rPr>
              <a:t>유형+가격대뿐 — 용도지역·규모·연식·도로·수익률 등으로 후보를 좁히는 발굴형 검색이 약함.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880360"/>
            <a:ext cx="11247120" cy="841248"/>
          </a:xfrm>
          <a:prstGeom prst="rect">
            <a:avLst/>
          </a:prstGeom>
          <a:solidFill>
            <a:srgbClr val="F5F8FC"/>
          </a:solidFill>
          <a:ln w="9525">
            <a:solidFill>
              <a:srgbClr val="E6EA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880360"/>
            <a:ext cx="91440" cy="841248"/>
          </a:xfrm>
          <a:prstGeom prst="rect">
            <a:avLst/>
          </a:prstGeom>
          <a:solidFill>
            <a:srgbClr val="2A7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999232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1C2430"/>
                </a:solidFill>
                <a:latin typeface="Malgun Gothic"/>
              </a:rPr>
              <a:t>종합 판단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3026664"/>
            <a:ext cx="7680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A6572"/>
                </a:solidFill>
                <a:latin typeface="Malgun Gothic"/>
              </a:rPr>
              <a:t>실거래·공시·토지특성 원본은 풍부하나, 하나의 판단(점수/등급/추정가)으로 묶지 않음.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840480"/>
            <a:ext cx="11247120" cy="841248"/>
          </a:xfrm>
          <a:prstGeom prst="rect">
            <a:avLst/>
          </a:prstGeom>
          <a:solidFill>
            <a:srgbClr val="F5F8FC"/>
          </a:solidFill>
          <a:ln w="9525">
            <a:solidFill>
              <a:srgbClr val="E6EA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3840480"/>
            <a:ext cx="91440" cy="841248"/>
          </a:xfrm>
          <a:prstGeom prst="rect">
            <a:avLst/>
          </a:prstGeom>
          <a:solidFill>
            <a:srgbClr val="2A7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959352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1C2430"/>
                </a:solidFill>
                <a:latin typeface="Malgun Gothic"/>
              </a:rPr>
              <a:t>관리·산출물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0" y="3986784"/>
            <a:ext cx="7680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A6572"/>
                </a:solidFill>
                <a:latin typeface="Malgun Gothic"/>
              </a:rPr>
              <a:t>경량 매물등록뿐(CRM 없음) · 화면 조회로 끝 · 매수자에게 건넬 보고서 형태 산출물 없음.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937760"/>
            <a:ext cx="11247120" cy="868680"/>
          </a:xfrm>
          <a:prstGeom prst="rect">
            <a:avLst/>
          </a:prstGeom>
          <a:solidFill>
            <a:srgbClr val="EFF3FB"/>
          </a:solidFill>
          <a:ln w="9525">
            <a:solidFill>
              <a:srgbClr val="2A7D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5074920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2A7D46"/>
                </a:solidFill>
                <a:latin typeface="Malgun Gothic"/>
              </a:rPr>
              <a:t>총평  </a:t>
            </a:r>
            <a:r>
              <a:rPr sz="1250" b="0">
                <a:solidFill>
                  <a:srgbClr val="1C2430"/>
                </a:solidFill>
                <a:latin typeface="Malgun Gothic"/>
              </a:rPr>
              <a:t>개별 건물의 원본 데이터 열람은 강하나, 조건 검색·종합 판단·설득 산출물은 다루지 않는다.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62895" y="6510528"/>
            <a:ext cx="14630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AAB2BC"/>
                </a:solidFill>
                <a:latin typeface="Malgun Gothic"/>
              </a:rPr>
              <a:t>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