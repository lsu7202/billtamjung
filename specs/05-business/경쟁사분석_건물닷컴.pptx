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B0FF"/>
                </a:solidFill>
                <a:latin typeface="Malgun Gothic"/>
              </a:rP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건물닷컴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4DE"/>
                </a:solidFill>
                <a:latin typeface="Malgun Gothic"/>
              </a:rPr>
              <a:t>Gunmul.com  —  가격평가 리포트 + 실매물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8D4EE"/>
                </a:solidFill>
                <a:latin typeface="Malgun Gothic"/>
              </a:rPr>
              <a:t>감정평가 3방식 자동 가격평가 웹리포트 + 컨설팅 + 수익형 실매물.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800600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508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C8"/>
                </a:solidFill>
                <a:latin typeface="Malgun Gothic"/>
              </a:rPr>
              <a:t>시장 조사 자료 · 2026.07 · 테스트 물건: 강남구 역삼동 601-5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건물닷컴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01 · 직접 써보니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건물닷컴 — 가격평가 리포트를 열어보니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>
                <a:solidFill>
                  <a:srgbClr val="1C2430"/>
                </a:solidFill>
                <a:latin typeface="Malgun Gothic"/>
              </a:rPr>
              <a:t>감정평가 3방식으로 가격을 삼각측량한다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417320" cy="310896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8648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직접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85216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122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① 원가기준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59152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토지(공시지가+UP)+건물(복성식)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0370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C2430"/>
                </a:solidFill>
                <a:latin typeface="Malgun Gothic"/>
              </a:rPr>
              <a:t>100,000만원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585216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7706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② 수익률기준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임대료(지역별 차등)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6207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C2430"/>
                </a:solidFill>
                <a:latin typeface="Malgun Gothic"/>
              </a:rPr>
              <a:t>105,000만원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585216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③ 실거래기준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675887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거래일+거리+도로+건물가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5204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C2430"/>
                </a:solidFill>
                <a:latin typeface="Malgun Gothic"/>
              </a:rPr>
              <a:t>102,000만원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5852160" cy="566928"/>
          </a:xfrm>
          <a:prstGeom prst="rect">
            <a:avLst/>
          </a:prstGeom>
          <a:solidFill>
            <a:srgbClr val="FCF3E2"/>
          </a:solidFill>
          <a:ln w="9525">
            <a:solidFill>
              <a:srgbClr val="C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87952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최종  </a:t>
            </a:r>
            <a:r>
              <a:rPr sz="1150" b="1">
                <a:solidFill>
                  <a:srgbClr val="1C2430"/>
                </a:solidFill>
                <a:latin typeface="Malgun Gothic"/>
              </a:rPr>
              <a:t>3방식 평균 ±7% → 95,170만 ~ 109,496만원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58521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A7D46"/>
                </a:solidFill>
                <a:latin typeface="Malgun Gothic"/>
              </a:rPr>
              <a:t>느낀 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감정평가 논리(원가·수익·비교)를 자동화한 건 탄탄. 근거가 투명하게 병렬로 보임.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0392B"/>
                </a:solidFill>
                <a:latin typeface="Malgun Gothic"/>
              </a:rPr>
              <a:t>한계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의뢰(신청)형 웹페이지 · 홍길동 샘플·2017 카피라이트로 UI 노후 · 항목별 등급·층별 임대·CRM 연계 없음</a:t>
            </a:r>
          </a:p>
        </p:txBody>
      </p:sp>
      <p:pic>
        <p:nvPicPr>
          <p:cNvPr id="25" name="Picture 24" descr="gunmul_valresul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689" y="1417320"/>
            <a:ext cx="2916620" cy="274320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pic>
        <p:nvPicPr>
          <p:cNvPr id="26" name="Picture 25" descr="gunmul_appr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044" y="4343400"/>
            <a:ext cx="1481110" cy="233172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6492240" y="4224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3방식 가격평가결과(실제 미리보기)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2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좌: 리포트 전체 →  </a:t>
            </a:r>
          </a:p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웹페이지 1장짜리 표 형식.</a:t>
            </a:r>
          </a:p>
          <a:p>
            <a:pPr algn="l"/>
            <a:r>
              <a:rPr sz="950" b="1">
                <a:solidFill>
                  <a:srgbClr val="C8781A"/>
                </a:solidFill>
                <a:latin typeface="Malgun Gothic"/>
              </a:rPr>
              <a:t>배포용 산출물 아님.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경쟁사 분석  ·  건물닷컴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02 · 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781A"/>
                </a:solidFill>
                <a:latin typeface="Malgun Gothic"/>
              </a:rPr>
              <a:t>종합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건물닷컴의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91440" cy="841248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항목별 등급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6654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금액(range)은 주지만 '왜 이 값인가'를 항목별 등급으로 설명하지는 않음.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91440" cy="841248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워크플로·즉시성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2666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의뢰(신청)형 → 즉석·자기주도 조회가 아님. 중개 CRM과도 분리.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84124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91440" cy="841248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C2430"/>
                </a:solidFill>
                <a:latin typeface="Malgun Gothic"/>
              </a:rPr>
              <a:t>산출물 형태·UI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86784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웹 1장 표 + 노후 UI. 매수자에게 건넬 배포용 산출물로는 약함.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47120" cy="868680"/>
          </a:xfrm>
          <a:prstGeom prst="rect">
            <a:avLst/>
          </a:prstGeom>
          <a:solidFill>
            <a:srgbClr val="EFF3FB"/>
          </a:solidFill>
          <a:ln w="9525">
            <a:solidFill>
              <a:srgbClr val="C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8781A"/>
                </a:solidFill>
                <a:latin typeface="Malgun Gothic"/>
              </a:rPr>
              <a:t>총평  </a:t>
            </a:r>
            <a:r>
              <a:rPr sz="1250" b="0">
                <a:solidFill>
                  <a:srgbClr val="1C2430"/>
                </a:solidFill>
                <a:latin typeface="Malgun Gothic"/>
              </a:rPr>
              <a:t>평가 논리는 정통(3방식)이나, 즉시성·항목별 설명·배포용 산출물·중개 워크플로 결합은 다루지 않는다.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