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B0FF"/>
                </a:solidFill>
                <a:latin typeface="Malgun Gothic"/>
              </a:rP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부기사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4DE"/>
                </a:solidFill>
                <a:latin typeface="Malgun Gothic"/>
              </a:rPr>
              <a:t>Bugisa · 부기맨  —  중개 운영 올인원(CRM)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8D4EE"/>
                </a:solidFill>
                <a:latin typeface="Malgun Gothic"/>
              </a:rPr>
              <a:t>매물·고객·직원·정산 + 마케팅·AI 올인원. 상업 빌딩은 '부기맨' 라인.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800600"/>
            <a:ext cx="1920240" cy="310896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508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유료 · 표면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C8"/>
                </a:solidFill>
                <a:latin typeface="Malgun Gothic"/>
              </a:rPr>
              <a:t>시장 조사 자료 · 2026.07 · 테스트 물건: 강남구 역삼동 601-5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부기사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01 · 운영 기능(올인원)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ED"/>
                </a:solidFill>
                <a:latin typeface="Malgun Gothic"/>
              </a:rPr>
              <a:t>중개 운영 올인원 — 방대한 기능 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A2E"/>
                </a:solidFill>
                <a:latin typeface="Malgun Gothic"/>
              </a:rPr>
              <a:t>매물·고객·직원·정산·마케팅을 한 곳에서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822960"/>
            <a:ext cx="1920240" cy="310896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8732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유료 · 표면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760720" cy="877824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91440" cy="877824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5564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A2E"/>
                </a:solidFill>
                <a:latin typeface="Malgun Gothic"/>
              </a:rPr>
              <a:t>매물관리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48256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657"/>
                </a:solidFill>
                <a:latin typeface="Malgun Gothic"/>
              </a:rPr>
              <a:t>주소→대장·실거래가·승강기 자동입력 · 지도기반 현장관리 · 건물 노후도 · 필지 합산(복합 브리핑)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5760720" cy="877824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33472"/>
            <a:ext cx="91440" cy="877824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4320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A2E"/>
                </a:solidFill>
                <a:latin typeface="Malgun Gothic"/>
              </a:rPr>
              <a:t>고객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35808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657"/>
                </a:solidFill>
                <a:latin typeface="Malgun Gothic"/>
              </a:rPr>
              <a:t>조건 저장→매칭 매물 자동 알림 · 고객별 TM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5760720" cy="877824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21024"/>
            <a:ext cx="91440" cy="877824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3075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A2E"/>
                </a:solidFill>
                <a:latin typeface="Malgun Gothic"/>
              </a:rPr>
              <a:t>직원·정산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2336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657"/>
                </a:solidFill>
                <a:latin typeface="Malgun Gothic"/>
              </a:rPr>
              <a:t>활동추적(TM·계약·사진) · 권한/매물보안 · 수수료 배분·급여 산출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08576"/>
            <a:ext cx="5760720" cy="877824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08576"/>
            <a:ext cx="91440" cy="877824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71830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A2E"/>
                </a:solidFill>
                <a:latin typeface="Malgun Gothic"/>
              </a:rPr>
              <a:t>마케팅·AI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010912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A4657"/>
                </a:solidFill>
                <a:latin typeface="Malgun Gothic"/>
              </a:rPr>
              <a:t>1클릭 네이버부동산·SNS 발송 · 반복 포스팅 · 제로콜(AI 전화응대·통화요약)</a:t>
            </a:r>
          </a:p>
        </p:txBody>
      </p:sp>
      <p:pic>
        <p:nvPicPr>
          <p:cNvPr id="26" name="Picture 25" descr="bg_mae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1554797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6400800" y="3246120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A4657"/>
                </a:solidFill>
                <a:latin typeface="Malgun Gothic"/>
              </a:rPr>
              <a:t>▲ 매물관리 그리드+모바일 — 주소 입력→대장·실거래가 자동</a:t>
            </a:r>
          </a:p>
        </p:txBody>
      </p:sp>
      <p:pic>
        <p:nvPicPr>
          <p:cNvPr id="28" name="Picture 27" descr="bg_c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394960" cy="134874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6400800" y="532180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A4657"/>
                </a:solidFill>
                <a:latin typeface="Malgun Gothic"/>
              </a:rPr>
              <a:t>▲ 고객 TM관리·매물매칭 — 조건 맞는 매물 등록 시 자동 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부기사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02 · 부기맨(상업 빌딩 특화)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ED"/>
                </a:solidFill>
                <a:latin typeface="Malgun Gothic"/>
              </a:rPr>
              <a:t>부기맨 — 상업용·빌딩 특화 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A2E"/>
                </a:solidFill>
                <a:latin typeface="Malgun Gothic"/>
              </a:rPr>
              <a:t>우리와 직접 겹치는 세그먼트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0F1A2E"/>
                </a:solidFill>
                <a:latin typeface="Malgun Gothic"/>
              </a:rPr>
              <a:t>포지셔닝</a:t>
            </a:r>
            <a:r>
              <a:rPr sz="1100" b="0">
                <a:solidFill>
                  <a:srgbClr val="3A4657"/>
                </a:solidFill>
                <a:latin typeface="Malgun Gothic"/>
              </a:rPr>
              <a:t> — '건물 매매·임대 전문' 최적화 매물관리 — 별도 브랜드(bugiman.co.kr)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0F1A2E"/>
                </a:solidFill>
                <a:latin typeface="Malgun Gothic"/>
              </a:rPr>
              <a:t>상업 특화</a:t>
            </a:r>
            <a:r>
              <a:rPr sz="1100" b="0">
                <a:solidFill>
                  <a:srgbClr val="3A4657"/>
                </a:solidFill>
                <a:latin typeface="Malgun Gothic"/>
              </a:rPr>
              <a:t> — 상업용 템플릿(건물개요 브리핑 프린트)·권리분석·지도기반·ChatGPT 표방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0F1A2E"/>
                </a:solidFill>
                <a:latin typeface="Malgun Gothic"/>
              </a:rPr>
              <a:t>데이터</a:t>
            </a:r>
            <a:r>
              <a:rPr sz="1100" b="0">
                <a:solidFill>
                  <a:srgbClr val="3A4657"/>
                </a:solidFill>
                <a:latin typeface="Malgun Gothic"/>
              </a:rPr>
              <a:t> — 건축물/토지대장 자동입력 · PC·모바일 최적화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0F1A2E"/>
                </a:solidFill>
                <a:latin typeface="Malgun Gothic"/>
              </a:rPr>
              <a:t>가격</a:t>
            </a:r>
            <a:r>
              <a:rPr sz="1100" b="0">
                <a:solidFill>
                  <a:srgbClr val="3A4657"/>
                </a:solidFill>
                <a:latin typeface="Malgun Gothic"/>
              </a:rPr>
              <a:t> — 초기 400만 + 연 100만 갱신 — 일반 대비 고가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200" b="1">
                <a:solidFill>
                  <a:srgbClr val="0F1A2E"/>
                </a:solidFill>
                <a:latin typeface="Malgun Gothic"/>
              </a:rPr>
              <a:t>규모</a:t>
            </a:r>
            <a:r>
              <a:rPr sz="1100" b="0">
                <a:solidFill>
                  <a:srgbClr val="3A4657"/>
                </a:solidFill>
                <a:latin typeface="Malgun Gothic"/>
              </a:rPr>
              <a:t> — 1,000+ 가입사(국내 10만 공인중개사 대상)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92040"/>
            <a:ext cx="5760720" cy="1234440"/>
          </a:xfrm>
          <a:prstGeom prst="rect">
            <a:avLst/>
          </a:prstGeom>
          <a:solidFill>
            <a:srgbClr val="EFF3FB"/>
          </a:solidFill>
          <a:ln w="9525">
            <a:solidFill>
              <a:srgbClr val="2E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02920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6FED"/>
                </a:solidFill>
                <a:latin typeface="Malgun Gothic"/>
              </a:rPr>
              <a:t>의미  </a:t>
            </a:r>
            <a:r>
              <a:rPr sz="1100" b="0">
                <a:solidFill>
                  <a:srgbClr val="0F1A2E"/>
                </a:solidFill>
                <a:latin typeface="Malgun Gothic"/>
              </a:rPr>
              <a:t>상업 빌딩 세그먼트를 이미 겨냥한 유일한 경쟁 라인. 매물관리·브리핑까지는 커버 — 심화 가치평가는 다음 장.</a:t>
            </a:r>
          </a:p>
        </p:txBody>
      </p:sp>
      <p:pic>
        <p:nvPicPr>
          <p:cNvPr id="11" name="Picture 10" descr="bm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11" y="1417320"/>
            <a:ext cx="4301337" cy="224028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pic>
        <p:nvPicPr>
          <p:cNvPr id="12" name="Picture 11" descr="bm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86200"/>
            <a:ext cx="5394960" cy="109265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0" y="51389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A4657"/>
                </a:solidFill>
                <a:latin typeface="Malgun Gothic"/>
              </a:rPr>
              <a:t>▲ 부기맨 상업용 매물관리 — 건물/토지대장 자동입력·화면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부기사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03 · 데이터·분석과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ED"/>
                </a:solidFill>
                <a:latin typeface="Malgun Gothic"/>
              </a:rPr>
              <a:t>데이터·분석 — 어디까지 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>
                <a:solidFill>
                  <a:srgbClr val="0F1A2E"/>
                </a:solidFill>
                <a:latin typeface="Malgun Gothic"/>
              </a:rPr>
              <a:t>'제공하는 것'과 '하지 않는 것'을 정확히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623560" cy="2331720"/>
          </a:xfrm>
          <a:prstGeom prst="rect">
            <a:avLst/>
          </a:prstGeom>
          <a:solidFill>
            <a:srgbClr val="EFF6EF"/>
          </a:solidFill>
          <a:ln w="9525">
            <a:solidFill>
              <a:srgbClr val="2A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7D46"/>
                </a:solidFill>
                <a:latin typeface="Malgun Gothic"/>
              </a:rPr>
              <a:t>제공하는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12848"/>
            <a:ext cx="5257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100" b="1">
                <a:solidFill>
                  <a:srgbClr val="0F1A2E"/>
                </a:solidFill>
                <a:latin typeface="Malgun Gothic"/>
              </a:rPr>
              <a:t>자동 데이터</a:t>
            </a:r>
            <a:r>
              <a:rPr sz="1000" b="0">
                <a:solidFill>
                  <a:srgbClr val="3A4657"/>
                </a:solidFill>
                <a:latin typeface="Malgun Gothic"/>
              </a:rPr>
              <a:t> — 건축물·토지대장·실거래가·승강기·고시정보(신규/변경/폐지)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100" b="1">
                <a:solidFill>
                  <a:srgbClr val="0F1A2E"/>
                </a:solidFill>
                <a:latin typeface="Malgun Gothic"/>
              </a:rPr>
              <a:t>등기부 권리분석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100" b="1">
                <a:solidFill>
                  <a:srgbClr val="0F1A2E"/>
                </a:solidFill>
                <a:latin typeface="Malgun Gothic"/>
              </a:rPr>
              <a:t>부동산 계산기</a:t>
            </a:r>
            <a:r>
              <a:rPr sz="1000" b="0">
                <a:solidFill>
                  <a:srgbClr val="3A4657"/>
                </a:solidFill>
                <a:latin typeface="Malgun Gothic"/>
              </a:rPr>
              <a:t> — 평단가·수익률·대출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100" b="1">
                <a:solidFill>
                  <a:srgbClr val="0F1A2E"/>
                </a:solidFill>
                <a:latin typeface="Malgun Gothic"/>
              </a:rPr>
              <a:t>브리핑 산출물</a:t>
            </a:r>
            <a:r>
              <a:rPr sz="1000" b="0">
                <a:solidFill>
                  <a:srgbClr val="3A4657"/>
                </a:solidFill>
                <a:latin typeface="Malgun Gothic"/>
              </a:rPr>
              <a:t> — 건물개요 IM/팜플렛 프린트(상업 템플릿)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5623560" cy="1965960"/>
          </a:xfrm>
          <a:prstGeom prst="rect">
            <a:avLst/>
          </a:prstGeom>
          <a:solidFill>
            <a:srgbClr val="FBEE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2976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0392B"/>
                </a:solidFill>
                <a:latin typeface="Malgun Gothic"/>
              </a:rPr>
              <a:t>하지 않는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81728"/>
            <a:ext cx="5257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100" b="1">
                <a:solidFill>
                  <a:srgbClr val="0F1A2E"/>
                </a:solidFill>
                <a:latin typeface="Malgun Gothic"/>
              </a:rPr>
              <a:t>심화 가치평가 없음</a:t>
            </a:r>
            <a:r>
              <a:rPr sz="1000" b="0">
                <a:solidFill>
                  <a:srgbClr val="3A4657"/>
                </a:solidFill>
                <a:latin typeface="Malgun Gothic"/>
              </a:rPr>
              <a:t> — 감정평가식 적정매매가·가치점수 산출 아님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AF0"/>
                </a:solidFill>
                <a:latin typeface="Malgun Gothic"/>
              </a:rPr>
              <a:t>• </a:t>
            </a:r>
            <a:r>
              <a:rPr sz="1100" b="1">
                <a:solidFill>
                  <a:srgbClr val="0F1A2E"/>
                </a:solidFill>
                <a:latin typeface="Malgun Gothic"/>
              </a:rPr>
              <a:t>설득형 보고서 아님</a:t>
            </a:r>
            <a:r>
              <a:rPr sz="1000" b="0">
                <a:solidFill>
                  <a:srgbClr val="3A4657"/>
                </a:solidFill>
                <a:latin typeface="Malgun Gothic"/>
              </a:rPr>
              <a:t> — 항목별 등급·근거로 '왜 이 값인가' 설명 X</a:t>
            </a:r>
          </a:p>
        </p:txBody>
      </p:sp>
      <p:pic>
        <p:nvPicPr>
          <p:cNvPr id="14" name="Picture 13" descr="bg_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341" y="1600200"/>
            <a:ext cx="5260156" cy="329184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55080" y="49560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A4657"/>
                </a:solidFill>
                <a:latin typeface="Malgun Gothic"/>
              </a:rPr>
              <a:t>▲ 건물개요 브리핑 프린트(상업 템플릿) — 실제 화면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5349240"/>
            <a:ext cx="5440680" cy="777240"/>
          </a:xfrm>
          <a:prstGeom prst="rect">
            <a:avLst/>
          </a:prstGeom>
          <a:solidFill>
            <a:srgbClr val="FCF3E2"/>
          </a:solidFill>
          <a:ln w="9525">
            <a:solidFill>
              <a:srgbClr val="C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449824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8781A"/>
                </a:solidFill>
                <a:latin typeface="Malgun Gothic"/>
              </a:rPr>
              <a:t>정정  </a:t>
            </a:r>
            <a:r>
              <a:rPr sz="1050" b="0">
                <a:solidFill>
                  <a:srgbClr val="0F1A2E"/>
                </a:solidFill>
                <a:latin typeface="Malgun Gothic"/>
              </a:rPr>
              <a:t>앞서 '설득 보고서 전무'는 부정확 — 기본 브리핑·수익률 계산은 존재. 부재한 것은 심화 가치평가.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부기사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04 · 종합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ED"/>
                </a:solidFill>
                <a:latin typeface="Malgun Gothic"/>
              </a:rPr>
              <a:t>종합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A2E"/>
                </a:solidFill>
                <a:latin typeface="Malgun Gothic"/>
              </a:rPr>
              <a:t>부기사의 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91440" cy="841248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A2E"/>
                </a:solidFill>
                <a:latin typeface="Malgun Gothic"/>
              </a:rPr>
              <a:t>심화 가치평가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6654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657"/>
                </a:solidFill>
                <a:latin typeface="Malgun Gothic"/>
              </a:rPr>
              <a:t>브리핑·수익률 계산은 있으나, 감정평가식 적정매매가·가치점수 같은 심화 가치 산출은 다루지 않음.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91440" cy="841248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A2E"/>
                </a:solidFill>
                <a:latin typeface="Malgun Gothic"/>
              </a:rPr>
              <a:t>설득형 산출물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2666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657"/>
                </a:solidFill>
                <a:latin typeface="Malgun Gothic"/>
              </a:rPr>
              <a:t>건물개요 프린트는 있으나, 항목별 등급·근거로 매수자를 설득하는 분석 보고서 형태는 아님.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91440" cy="841248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93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A2E"/>
                </a:solidFill>
                <a:latin typeface="Malgun Gothic"/>
              </a:rPr>
              <a:t>진입 비용·확인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8678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657"/>
                </a:solidFill>
                <a:latin typeface="Malgun Gothic"/>
              </a:rPr>
              <a:t>상업(부기맨) 초기 400만+연 100만 → 소형 중개인엔 부담. 유료라 내부 동작은 표면 확인.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1247120" cy="868680"/>
          </a:xfrm>
          <a:prstGeom prst="rect">
            <a:avLst/>
          </a:prstGeom>
          <a:solidFill>
            <a:srgbClr val="EFF3FB"/>
          </a:solidFill>
          <a:ln w="9525">
            <a:solidFill>
              <a:srgbClr val="2E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6FED"/>
                </a:solidFill>
                <a:latin typeface="Malgun Gothic"/>
              </a:rPr>
              <a:t>총평  </a:t>
            </a:r>
            <a:r>
              <a:rPr sz="1250" b="0">
                <a:solidFill>
                  <a:srgbClr val="0F1A2E"/>
                </a:solidFill>
                <a:latin typeface="Malgun Gothic"/>
              </a:rPr>
              <a:t>중개 운영·관리(CRM)와 방대한 기능 폭이 강점. 다만 매물의 가격·가치를 심화 평가하고 항목별 근거로 설득하는 분석 산출물은 핵심 영역이 아니다.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