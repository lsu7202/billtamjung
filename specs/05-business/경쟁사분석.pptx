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algun Gothic"/>
              </a:rPr>
              <a:t>경쟁사 심층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1089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8FB0FF"/>
                </a:solidFill>
                <a:latin typeface="Malgun Gothic"/>
              </a:rPr>
              <a:t>부기사</a:t>
            </a:r>
            <a:r>
              <a:rPr sz="2200" b="1">
                <a:solidFill>
                  <a:srgbClr val="FFFFFF"/>
                </a:solidFill>
                <a:latin typeface="Malgun Gothic"/>
              </a:rPr>
              <a:t>  ·  </a:t>
            </a:r>
            <a:r>
              <a:rPr sz="2200" b="1">
                <a:solidFill>
                  <a:srgbClr val="8FB0FF"/>
                </a:solidFill>
                <a:latin typeface="Malgun Gothic"/>
              </a:rPr>
              <a:t>디스코</a:t>
            </a:r>
            <a:r>
              <a:rPr sz="2200" b="1">
                <a:solidFill>
                  <a:srgbClr val="FFFFFF"/>
                </a:solidFill>
                <a:latin typeface="Malgun Gothic"/>
              </a:rPr>
              <a:t>  ·  </a:t>
            </a:r>
            <a:r>
              <a:rPr sz="2200" b="1">
                <a:solidFill>
                  <a:srgbClr val="8FB0FF"/>
                </a:solidFill>
                <a:latin typeface="Malgun Gothic"/>
              </a:rPr>
              <a:t>건물닷컴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8D4EE"/>
                </a:solidFill>
                <a:latin typeface="Malgun Gothic"/>
              </a:rPr>
              <a:t>핵심 기능 · 실제 동작 · 실행화면 기준 객관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03504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8C8"/>
                </a:solidFill>
                <a:latin typeface="Malgun Gothic"/>
              </a:rPr>
              <a:t>빌탐정 사업계획 자료 · 2026.07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2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빌탐정 · 경쟁사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76895" y="15544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B8C4DE"/>
                </a:solidFill>
                <a:latin typeface="Malgun Gothic"/>
              </a:rPr>
              <a:t>00 · 분석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4FC0"/>
                </a:solidFill>
                <a:latin typeface="Malgun Gothic"/>
              </a:rPr>
              <a:t>00 분석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7899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C2430"/>
                </a:solidFill>
                <a:latin typeface="Malgun Gothic"/>
              </a:rPr>
              <a:t>세 서비스는 서로 다른 축에 서 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3566160" cy="3291840"/>
          </a:xfrm>
          <a:prstGeom prst="rect">
            <a:avLst/>
          </a:prstGeom>
          <a:solidFill>
            <a:srgbClr val="F5F8FC"/>
          </a:solidFill>
          <a:ln w="9525">
            <a:solidFill>
              <a:srgbClr val="E6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3566160" cy="109728"/>
          </a:xfrm>
          <a:prstGeom prst="rect">
            <a:avLst/>
          </a:prstGeom>
          <a:solidFill>
            <a:srgbClr val="2E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1488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C2430"/>
                </a:solidFill>
                <a:latin typeface="Malgun Gothic"/>
              </a:rPr>
              <a:t>부기사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60604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E6FED"/>
                </a:solidFill>
                <a:latin typeface="Malgun Gothic"/>
              </a:rPr>
              <a:t>중개 운영관리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063240"/>
            <a:ext cx="30632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572"/>
                </a:solidFill>
                <a:latin typeface="Malgun Gothic"/>
              </a:rPr>
              <a:t>매물·고객·직원·수수료 CRM + 마케팅 발송. 상업 빌딩 특화(부기맨).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1828800"/>
            <a:ext cx="3566160" cy="3291840"/>
          </a:xfrm>
          <a:prstGeom prst="rect">
            <a:avLst/>
          </a:prstGeom>
          <a:solidFill>
            <a:srgbClr val="F5F8FC"/>
          </a:solidFill>
          <a:ln w="9525">
            <a:solidFill>
              <a:srgbClr val="E6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1828800"/>
            <a:ext cx="3566160" cy="109728"/>
          </a:xfrm>
          <a:prstGeom prst="rect">
            <a:avLst/>
          </a:prstGeom>
          <a:solidFill>
            <a:srgbClr val="2A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21488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C2430"/>
                </a:solidFill>
                <a:latin typeface="Malgun Gothic"/>
              </a:rPr>
              <a:t>디스코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260604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A7D46"/>
                </a:solidFill>
                <a:latin typeface="Malgun Gothic"/>
              </a:rPr>
              <a:t>데이터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3063240"/>
            <a:ext cx="30632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572"/>
                </a:solidFill>
                <a:latin typeface="Malgun Gothic"/>
              </a:rPr>
              <a:t>지도 기반 실거래가·대장·공시·등기·경매 조회 + 경량 매물등록.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828800"/>
            <a:ext cx="3566160" cy="3291840"/>
          </a:xfrm>
          <a:prstGeom prst="rect">
            <a:avLst/>
          </a:prstGeom>
          <a:solidFill>
            <a:srgbClr val="F5F8FC"/>
          </a:solidFill>
          <a:ln w="9525">
            <a:solidFill>
              <a:srgbClr val="E6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828800"/>
            <a:ext cx="3566160" cy="109728"/>
          </a:xfrm>
          <a:prstGeom prst="rect">
            <a:avLst/>
          </a:prstGeom>
          <a:solidFill>
            <a:srgbClr val="C87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21488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C2430"/>
                </a:solidFill>
                <a:latin typeface="Malgun Gothic"/>
              </a:rPr>
              <a:t>건물닷컴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260604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8781A"/>
                </a:solidFill>
                <a:latin typeface="Malgun Gothic"/>
              </a:rPr>
              <a:t>가치평가 + 실매물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3063240"/>
            <a:ext cx="30632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572"/>
                </a:solidFill>
                <a:latin typeface="Malgun Gothic"/>
              </a:rPr>
              <a:t>3기준 자동 가격평가 + 컨설팅형 클리닉 + 수익형 실매물.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39496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C2430"/>
                </a:solidFill>
                <a:latin typeface="Malgun Gothic"/>
              </a:rPr>
              <a:t>관점: </a:t>
            </a:r>
            <a:r>
              <a:rPr sz="1200" b="0">
                <a:solidFill>
                  <a:srgbClr val="5A6572"/>
                </a:solidFill>
                <a:latin typeface="Malgun Gothic"/>
              </a:rPr>
              <a:t>각 서비스를 '더 좋다/나쁘다'가 아니라 하나의 주체로 — 어떤 기능을 제공하고, 그 기능이 실제로 어떻게 동작하는지를 실행화면으로 확인.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62895" y="6510528"/>
            <a:ext cx="1463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AAB2BC"/>
                </a:solidFill>
                <a:latin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2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빌탐정 · 경쟁사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76895" y="15544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B8C4DE"/>
                </a:solidFill>
                <a:latin typeface="Malgun Gothic"/>
              </a:rPr>
              <a:t>01 · 부기사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4FC0"/>
                </a:solidFill>
                <a:latin typeface="Malgun Gothic"/>
              </a:rPr>
              <a:t>01 부기사 (Bugisa / 부기맨)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33271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C2430"/>
                </a:solidFill>
                <a:latin typeface="Malgun Gothic"/>
              </a:rPr>
              <a:t>중개 운영 올인원 — CRM 중심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60350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1">
                <a:solidFill>
                  <a:srgbClr val="1A4FC0"/>
                </a:solidFill>
                <a:latin typeface="Malgun Gothic"/>
              </a:rPr>
              <a:t>• </a:t>
            </a:r>
            <a:r>
              <a:rPr sz="1250" b="1">
                <a:solidFill>
                  <a:srgbClr val="1C2430"/>
                </a:solidFill>
                <a:latin typeface="Malgun Gothic"/>
              </a:rPr>
              <a:t>매물 자동입력</a:t>
            </a:r>
            <a:r>
              <a:rPr sz="1150" b="0">
                <a:solidFill>
                  <a:srgbClr val="5A6572"/>
                </a:solidFill>
                <a:latin typeface="Malgun Gothic"/>
              </a:rPr>
              <a:t> — 주소→건축물·토지대장·실거래가 자동</a:t>
            </a:r>
          </a:p>
          <a:p>
            <a:pPr algn="l">
              <a:spcAft>
                <a:spcPts val="700"/>
              </a:spcAft>
            </a:pPr>
            <a:r>
              <a:rPr sz="1250" b="1">
                <a:solidFill>
                  <a:srgbClr val="1A4FC0"/>
                </a:solidFill>
                <a:latin typeface="Malgun Gothic"/>
              </a:rPr>
              <a:t>• </a:t>
            </a:r>
            <a:r>
              <a:rPr sz="1250" b="1">
                <a:solidFill>
                  <a:srgbClr val="1C2430"/>
                </a:solidFill>
                <a:latin typeface="Malgun Gothic"/>
              </a:rPr>
              <a:t>고객 CRM</a:t>
            </a:r>
            <a:r>
              <a:rPr sz="1150" b="0">
                <a:solidFill>
                  <a:srgbClr val="5A6572"/>
                </a:solidFill>
                <a:latin typeface="Malgun Gothic"/>
              </a:rPr>
              <a:t> — 조건 저장→매칭 매물 자동 알림·TM관리</a:t>
            </a:r>
          </a:p>
          <a:p>
            <a:pPr algn="l">
              <a:spcAft>
                <a:spcPts val="700"/>
              </a:spcAft>
            </a:pPr>
            <a:r>
              <a:rPr sz="1250" b="1">
                <a:solidFill>
                  <a:srgbClr val="1A4FC0"/>
                </a:solidFill>
                <a:latin typeface="Malgun Gothic"/>
              </a:rPr>
              <a:t>• </a:t>
            </a:r>
            <a:r>
              <a:rPr sz="1250" b="1">
                <a:solidFill>
                  <a:srgbClr val="1C2430"/>
                </a:solidFill>
                <a:latin typeface="Malgun Gothic"/>
              </a:rPr>
              <a:t>직원 관리</a:t>
            </a:r>
            <a:r>
              <a:rPr sz="1150" b="0">
                <a:solidFill>
                  <a:srgbClr val="5A6572"/>
                </a:solidFill>
                <a:latin typeface="Malgun Gothic"/>
              </a:rPr>
              <a:t> — 활동 추적·수수료 배분</a:t>
            </a:r>
          </a:p>
          <a:p>
            <a:pPr algn="l">
              <a:spcAft>
                <a:spcPts val="700"/>
              </a:spcAft>
            </a:pPr>
            <a:r>
              <a:rPr sz="1250" b="1">
                <a:solidFill>
                  <a:srgbClr val="1A4FC0"/>
                </a:solidFill>
                <a:latin typeface="Malgun Gothic"/>
              </a:rPr>
              <a:t>• </a:t>
            </a:r>
            <a:r>
              <a:rPr sz="1250" b="1">
                <a:solidFill>
                  <a:srgbClr val="1C2430"/>
                </a:solidFill>
                <a:latin typeface="Malgun Gothic"/>
              </a:rPr>
              <a:t>관리자</a:t>
            </a:r>
            <a:r>
              <a:rPr sz="1150" b="0">
                <a:solidFill>
                  <a:srgbClr val="5A6572"/>
                </a:solidFill>
                <a:latin typeface="Malgun Gothic"/>
              </a:rPr>
              <a:t> — 종류·상태·지도·급여 관리(운영 전반)</a:t>
            </a:r>
          </a:p>
          <a:p>
            <a:pPr algn="l">
              <a:spcAft>
                <a:spcPts val="700"/>
              </a:spcAft>
            </a:pPr>
            <a:r>
              <a:rPr sz="1250" b="1">
                <a:solidFill>
                  <a:srgbClr val="1A4FC0"/>
                </a:solidFill>
                <a:latin typeface="Malgun Gothic"/>
              </a:rPr>
              <a:t>• </a:t>
            </a:r>
            <a:r>
              <a:rPr sz="1250" b="1">
                <a:solidFill>
                  <a:srgbClr val="1C2430"/>
                </a:solidFill>
                <a:latin typeface="Malgun Gothic"/>
              </a:rPr>
              <a:t>마케팅 발송</a:t>
            </a:r>
            <a:r>
              <a:rPr sz="1150" b="0">
                <a:solidFill>
                  <a:srgbClr val="5A6572"/>
                </a:solidFill>
                <a:latin typeface="Malgun Gothic"/>
              </a:rPr>
              <a:t> — 1클릭 네이버 부동산·블로그·SNS</a:t>
            </a:r>
          </a:p>
          <a:p>
            <a:pPr algn="l">
              <a:spcAft>
                <a:spcPts val="700"/>
              </a:spcAft>
            </a:pPr>
            <a:r>
              <a:rPr sz="1250" b="1">
                <a:solidFill>
                  <a:srgbClr val="1A4FC0"/>
                </a:solidFill>
                <a:latin typeface="Malgun Gothic"/>
              </a:rPr>
              <a:t>• </a:t>
            </a:r>
            <a:r>
              <a:rPr sz="1250" b="1">
                <a:solidFill>
                  <a:srgbClr val="1C2430"/>
                </a:solidFill>
                <a:latin typeface="Malgun Gothic"/>
              </a:rPr>
              <a:t>AI 전화응대(제로콜)</a:t>
            </a:r>
            <a:r>
              <a:rPr sz="1150" b="0">
                <a:solidFill>
                  <a:srgbClr val="5A6572"/>
                </a:solidFill>
                <a:latin typeface="Malgun Gothic"/>
              </a:rPr>
              <a:t> — 통화요약·매물추천·그룹공유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892040"/>
            <a:ext cx="6035040" cy="1280160"/>
          </a:xfrm>
          <a:prstGeom prst="rect">
            <a:avLst/>
          </a:prstGeom>
          <a:solidFill>
            <a:srgbClr val="F5F8FC"/>
          </a:solidFill>
          <a:ln w="9525">
            <a:solidFill>
              <a:srgbClr val="E6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5029200"/>
            <a:ext cx="5669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A4FC0"/>
                </a:solidFill>
                <a:latin typeface="Malgun Gothic"/>
              </a:rPr>
              <a:t>가격  </a:t>
            </a:r>
            <a:r>
              <a:rPr sz="1100" b="0">
                <a:solidFill>
                  <a:srgbClr val="1C2430"/>
                </a:solidFill>
                <a:latin typeface="Malgun Gothic"/>
              </a:rPr>
              <a:t>상업 빌딩 초기 400만 + 연 100만 / 일반 연 100만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2A7D46"/>
                </a:solidFill>
                <a:latin typeface="Malgun Gothic"/>
              </a:rPr>
              <a:t>강점  </a:t>
            </a:r>
            <a:r>
              <a:rPr sz="1100" b="0">
                <a:solidFill>
                  <a:srgbClr val="1C2430"/>
                </a:solidFill>
                <a:latin typeface="Malgun Gothic"/>
              </a:rPr>
              <a:t>성숙한 CRM·직원·운영 관리, 네이버 연동, 시장 침투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C0392B"/>
                </a:solidFill>
                <a:latin typeface="Malgun Gothic"/>
              </a:rPr>
              <a:t>약점  </a:t>
            </a:r>
            <a:r>
              <a:rPr sz="1100" b="0">
                <a:solidFill>
                  <a:srgbClr val="1C2430"/>
                </a:solidFill>
                <a:latin typeface="Malgun Gothic"/>
              </a:rPr>
              <a:t>가치분석·매수자 설득 보고서 없음(운영관리 중심)·상위 고가</a:t>
            </a:r>
          </a:p>
        </p:txBody>
      </p:sp>
      <p:pic>
        <p:nvPicPr>
          <p:cNvPr id="10" name="Picture 9" descr="bugisa_crop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371600"/>
            <a:ext cx="5120640" cy="3022600"/>
          </a:xfrm>
          <a:prstGeom prst="rect">
            <a:avLst/>
          </a:prstGeom>
          <a:ln w="9525">
            <a:solidFill>
              <a:srgbClr val="E6EAEF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720840" y="54864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A6572"/>
                </a:solidFill>
                <a:latin typeface="Malgun Gothic"/>
              </a:rPr>
              <a:t>▲ 실행화면: 매물 그리드 + 고객별 TM관리·매물매칭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62895" y="6510528"/>
            <a:ext cx="1463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AAB2BC"/>
                </a:solidFill>
                <a:latin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2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빌탐정 · 경쟁사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76895" y="15544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B8C4DE"/>
                </a:solidFill>
                <a:latin typeface="Malgun Gothic"/>
              </a:rPr>
              <a:t>02 · 디스코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4FC0"/>
                </a:solidFill>
                <a:latin typeface="Malgun Gothic"/>
              </a:rPr>
              <a:t>02 디스코 (Disco)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33271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C2430"/>
                </a:solidFill>
                <a:latin typeface="Malgun Gothic"/>
              </a:rPr>
              <a:t>무료 부동산 데이터 조회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76072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1">
                <a:solidFill>
                  <a:srgbClr val="1A4FC0"/>
                </a:solidFill>
                <a:latin typeface="Malgun Gothic"/>
              </a:rPr>
              <a:t>• </a:t>
            </a:r>
            <a:r>
              <a:rPr sz="1250" b="1">
                <a:solidFill>
                  <a:srgbClr val="1C2430"/>
                </a:solidFill>
                <a:latin typeface="Malgun Gothic"/>
              </a:rPr>
              <a:t>지도 검색</a:t>
            </a:r>
            <a:r>
              <a:rPr sz="1150" b="0">
                <a:solidFill>
                  <a:srgbClr val="5A6572"/>
                </a:solidFill>
                <a:latin typeface="Malgun Gothic"/>
              </a:rPr>
              <a:t> — 지번/건물명→일대 실거래가(매매/전월세) 지도 라벨(평당가·거래일)</a:t>
            </a:r>
          </a:p>
          <a:p>
            <a:pPr algn="l">
              <a:spcAft>
                <a:spcPts val="800"/>
              </a:spcAft>
            </a:pPr>
            <a:r>
              <a:rPr sz="1250" b="1">
                <a:solidFill>
                  <a:srgbClr val="1A4FC0"/>
                </a:solidFill>
                <a:latin typeface="Malgun Gothic"/>
              </a:rPr>
              <a:t>• </a:t>
            </a:r>
            <a:r>
              <a:rPr sz="1250" b="1">
                <a:solidFill>
                  <a:srgbClr val="1C2430"/>
                </a:solidFill>
                <a:latin typeface="Malgun Gothic"/>
              </a:rPr>
              <a:t>도구</a:t>
            </a:r>
            <a:r>
              <a:rPr sz="1150" b="0">
                <a:solidFill>
                  <a:srgbClr val="5A6572"/>
                </a:solidFill>
                <a:latin typeface="Malgun Gothic"/>
              </a:rPr>
              <a:t> — 필터·매물만보기·로드뷰·거리/면적/반경 측정·지적/위성</a:t>
            </a:r>
          </a:p>
          <a:p>
            <a:pPr algn="l">
              <a:spcAft>
                <a:spcPts val="800"/>
              </a:spcAft>
            </a:pPr>
            <a:r>
              <a:rPr sz="1250" b="1">
                <a:solidFill>
                  <a:srgbClr val="1A4FC0"/>
                </a:solidFill>
                <a:latin typeface="Malgun Gothic"/>
              </a:rPr>
              <a:t>• </a:t>
            </a:r>
            <a:r>
              <a:rPr sz="1250" b="1">
                <a:solidFill>
                  <a:srgbClr val="1C2430"/>
                </a:solidFill>
                <a:latin typeface="Malgun Gothic"/>
              </a:rPr>
              <a:t>건물 데이터</a:t>
            </a:r>
            <a:r>
              <a:rPr sz="1150" b="0">
                <a:solidFill>
                  <a:srgbClr val="5A6572"/>
                </a:solidFill>
                <a:latin typeface="Malgun Gothic"/>
              </a:rPr>
              <a:t> — 대장(대지·건축·연면적·준공)·공시지가·등기부 열람</a:t>
            </a:r>
          </a:p>
          <a:p>
            <a:pPr algn="l">
              <a:spcAft>
                <a:spcPts val="800"/>
              </a:spcAft>
            </a:pPr>
            <a:r>
              <a:rPr sz="1250" b="1">
                <a:solidFill>
                  <a:srgbClr val="1A4FC0"/>
                </a:solidFill>
                <a:latin typeface="Malgun Gothic"/>
              </a:rPr>
              <a:t>• </a:t>
            </a:r>
            <a:r>
              <a:rPr sz="1250" b="1">
                <a:solidFill>
                  <a:srgbClr val="1C2430"/>
                </a:solidFill>
                <a:latin typeface="Malgun Gothic"/>
              </a:rPr>
              <a:t>전문가 회원</a:t>
            </a:r>
            <a:r>
              <a:rPr sz="1150" b="0">
                <a:solidFill>
                  <a:srgbClr val="5A6572"/>
                </a:solidFill>
                <a:latin typeface="Malgun Gothic"/>
              </a:rPr>
              <a:t> — 매물 등록/관리·경매중개·관심목록·AI 기획설계·포스트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572000"/>
            <a:ext cx="5760720" cy="1600200"/>
          </a:xfrm>
          <a:prstGeom prst="rect">
            <a:avLst/>
          </a:prstGeom>
          <a:solidFill>
            <a:srgbClr val="F5F8FC"/>
          </a:solidFill>
          <a:ln w="9525">
            <a:solidFill>
              <a:srgbClr val="E6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4709160"/>
            <a:ext cx="53949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1A4FC0"/>
                </a:solidFill>
                <a:latin typeface="Malgun Gothic"/>
              </a:rPr>
              <a:t>가격  </a:t>
            </a:r>
            <a:r>
              <a:rPr sz="1100" b="0">
                <a:solidFill>
                  <a:srgbClr val="1C2430"/>
                </a:solidFill>
                <a:latin typeface="Malgun Gothic"/>
              </a:rPr>
              <a:t>전문가 서비스 전부 무료, 등기 열람권만 유료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2A7D46"/>
                </a:solidFill>
                <a:latin typeface="Malgun Gothic"/>
              </a:rPr>
              <a:t>강점  </a:t>
            </a:r>
            <a:r>
              <a:rPr sz="1100" b="0">
                <a:solidFill>
                  <a:srgbClr val="1C2430"/>
                </a:solidFill>
                <a:latin typeface="Malgun Gothic"/>
              </a:rPr>
              <a:t>데이터 폭·무료·UX, 중개인 사이 실사용 많음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C0392B"/>
                </a:solidFill>
                <a:latin typeface="Malgun Gothic"/>
              </a:rPr>
              <a:t>약점  </a:t>
            </a:r>
            <a:r>
              <a:rPr sz="1100" b="0">
                <a:solidFill>
                  <a:srgbClr val="1C2430"/>
                </a:solidFill>
                <a:latin typeface="Malgun Gothic"/>
              </a:rPr>
              <a:t>조회·경량 매물등록 중심 → 본격 CRM(고객·직원·수수료)·설득 보고서로 안 이어짐</a:t>
            </a:r>
          </a:p>
        </p:txBody>
      </p:sp>
      <p:pic>
        <p:nvPicPr>
          <p:cNvPr id="10" name="Picture 9" descr="dis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1766" y="1371600"/>
            <a:ext cx="3744468" cy="4160520"/>
          </a:xfrm>
          <a:prstGeom prst="rect">
            <a:avLst/>
          </a:prstGeom>
          <a:ln w="9525">
            <a:solidFill>
              <a:srgbClr val="E6EAEF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446520" y="5559552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A6572"/>
                </a:solidFill>
                <a:latin typeface="Malgun Gothic"/>
              </a:rPr>
              <a:t>▲ 실행화면: 지도 실거래가 라벨 + 좌측 동별 실거래가·전문가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62895" y="6510528"/>
            <a:ext cx="1463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AAB2BC"/>
                </a:solidFill>
                <a:latin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2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빌탐정 · 경쟁사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76895" y="15544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B8C4DE"/>
                </a:solidFill>
                <a:latin typeface="Malgun Gothic"/>
              </a:rPr>
              <a:t>03 · 건물닷컴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4FC0"/>
                </a:solidFill>
                <a:latin typeface="Malgun Gothic"/>
              </a:rPr>
              <a:t>03 건물닷컴 (Gunmul.com)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33271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C2430"/>
                </a:solidFill>
                <a:latin typeface="Malgun Gothic"/>
              </a:rPr>
              <a:t>상업 가치평가 + 실매물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76072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1">
                <a:solidFill>
                  <a:srgbClr val="1A4FC0"/>
                </a:solidFill>
                <a:latin typeface="Malgun Gothic"/>
              </a:rPr>
              <a:t>• </a:t>
            </a:r>
            <a:r>
              <a:rPr sz="1250" b="1">
                <a:solidFill>
                  <a:srgbClr val="1C2430"/>
                </a:solidFill>
                <a:latin typeface="Malgun Gothic"/>
              </a:rPr>
              <a:t>부동산 클리닉 6종</a:t>
            </a:r>
            <a:r>
              <a:rPr sz="1150" b="0">
                <a:solidFill>
                  <a:srgbClr val="5A6572"/>
                </a:solidFill>
                <a:latin typeface="Malgun Gothic"/>
              </a:rPr>
              <a:t> — 가치평가·매입예정 평가·수익률 진단·경매 권리분석·감정평가·세금 원클릭</a:t>
            </a:r>
          </a:p>
          <a:p>
            <a:pPr algn="l">
              <a:spcAft>
                <a:spcPts val="800"/>
              </a:spcAft>
            </a:pPr>
            <a:r>
              <a:rPr sz="1250" b="1">
                <a:solidFill>
                  <a:srgbClr val="1A4FC0"/>
                </a:solidFill>
                <a:latin typeface="Malgun Gothic"/>
              </a:rPr>
              <a:t>• </a:t>
            </a:r>
            <a:r>
              <a:rPr sz="1250" b="1">
                <a:solidFill>
                  <a:srgbClr val="1C2430"/>
                </a:solidFill>
                <a:latin typeface="Malgun Gothic"/>
              </a:rPr>
              <a:t>자동 가격평가</a:t>
            </a:r>
            <a:r>
              <a:rPr sz="1150" b="0">
                <a:solidFill>
                  <a:srgbClr val="5A6572"/>
                </a:solidFill>
                <a:latin typeface="Malgun Gothic"/>
              </a:rPr>
              <a:t> — 3기준 병렬 원클릭(다음 장 상세)</a:t>
            </a:r>
          </a:p>
          <a:p>
            <a:pPr algn="l">
              <a:spcAft>
                <a:spcPts val="800"/>
              </a:spcAft>
            </a:pPr>
            <a:r>
              <a:rPr sz="1250" b="1">
                <a:solidFill>
                  <a:srgbClr val="1A4FC0"/>
                </a:solidFill>
                <a:latin typeface="Malgun Gothic"/>
              </a:rPr>
              <a:t>• </a:t>
            </a:r>
            <a:r>
              <a:rPr sz="1250" b="1">
                <a:solidFill>
                  <a:srgbClr val="1C2430"/>
                </a:solidFill>
                <a:latin typeface="Malgun Gothic"/>
              </a:rPr>
              <a:t>가치평가 클리닉</a:t>
            </a:r>
            <a:r>
              <a:rPr sz="1150" b="0">
                <a:solidFill>
                  <a:srgbClr val="5A6572"/>
                </a:solidFill>
                <a:latin typeface="Malgun Gothic"/>
              </a:rPr>
              <a:t> — 사람 개입 컨설팅, 의뢰~완료 10일, 매각=무료·보유=유료</a:t>
            </a:r>
          </a:p>
          <a:p>
            <a:pPr algn="l">
              <a:spcAft>
                <a:spcPts val="800"/>
              </a:spcAft>
            </a:pPr>
            <a:r>
              <a:rPr sz="1250" b="1">
                <a:solidFill>
                  <a:srgbClr val="1A4FC0"/>
                </a:solidFill>
                <a:latin typeface="Malgun Gothic"/>
              </a:rPr>
              <a:t>• </a:t>
            </a:r>
            <a:r>
              <a:rPr sz="1250" b="1">
                <a:solidFill>
                  <a:srgbClr val="1C2430"/>
                </a:solidFill>
                <a:latin typeface="Malgun Gothic"/>
              </a:rPr>
              <a:t>실매물</a:t>
            </a:r>
            <a:r>
              <a:rPr sz="1150" b="0">
                <a:solidFill>
                  <a:srgbClr val="5A6572"/>
                </a:solidFill>
                <a:latin typeface="Malgun Gothic"/>
              </a:rPr>
              <a:t> — 수익형/투자/사옥 100% 실매물 + 금융 제휴 거래사례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572000"/>
            <a:ext cx="5760720" cy="1600200"/>
          </a:xfrm>
          <a:prstGeom prst="rect">
            <a:avLst/>
          </a:prstGeom>
          <a:solidFill>
            <a:srgbClr val="F5F8FC"/>
          </a:solidFill>
          <a:ln w="9525">
            <a:solidFill>
              <a:srgbClr val="E6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4709160"/>
            <a:ext cx="53949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C8781A"/>
                </a:solidFill>
                <a:latin typeface="Malgun Gothic"/>
              </a:rPr>
              <a:t>특징  </a:t>
            </a:r>
            <a:r>
              <a:rPr sz="1100" b="0">
                <a:solidFill>
                  <a:srgbClr val="1C2430"/>
                </a:solidFill>
                <a:latin typeface="Malgun Gothic"/>
              </a:rPr>
              <a:t>"법적 효력 없음·참고용" · 10억↑ 정확 · 서울·경기 · 페이지 문구 노후(2017/2021)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2A7D46"/>
                </a:solidFill>
                <a:latin typeface="Malgun Gothic"/>
              </a:rPr>
              <a:t>강점  </a:t>
            </a:r>
            <a:r>
              <a:rPr sz="1100" b="0">
                <a:solidFill>
                  <a:srgbClr val="1C2430"/>
                </a:solidFill>
                <a:latin typeface="Malgun Gothic"/>
              </a:rPr>
              <a:t>상업 가치평가 특화·3기준 병렬·실매물+금융제휴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C0392B"/>
                </a:solidFill>
                <a:latin typeface="Malgun Gothic"/>
              </a:rPr>
              <a:t>약점  </a:t>
            </a:r>
            <a:r>
              <a:rPr sz="1100" b="0">
                <a:solidFill>
                  <a:srgbClr val="1C2430"/>
                </a:solidFill>
                <a:latin typeface="Malgun Gothic"/>
              </a:rPr>
              <a:t>자동평가 정성적·정확도 불명·클리닉 느림·CRM 없음·UI 노후</a:t>
            </a:r>
          </a:p>
        </p:txBody>
      </p:sp>
      <p:pic>
        <p:nvPicPr>
          <p:cNvPr id="10" name="Picture 9" descr="gunmul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6950" y="1371600"/>
            <a:ext cx="3994099" cy="4160520"/>
          </a:xfrm>
          <a:prstGeom prst="rect">
            <a:avLst/>
          </a:prstGeom>
          <a:ln w="9525">
            <a:solidFill>
              <a:srgbClr val="E6EAEF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446520" y="5559552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A6572"/>
                </a:solidFill>
                <a:latin typeface="Malgun Gothic"/>
              </a:rPr>
              <a:t>▲ 실행화면: 부동산 클리닉 6메뉴 + 실매물 그리드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62895" y="6510528"/>
            <a:ext cx="1463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AAB2BC"/>
                </a:solidFill>
                <a:latin typeface="Malgun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2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빌탐정 · 경쟁사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76895" y="15544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B8C4DE"/>
                </a:solidFill>
                <a:latin typeface="Malgun Gothic"/>
              </a:rPr>
              <a:t>03 · 건물닷컴 · 가치평가 방식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4FC0"/>
                </a:solidFill>
                <a:latin typeface="Malgun Gothic"/>
              </a:rPr>
              <a:t>03 건물닷컴 — 자동 가격평가 3기준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33271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C2430"/>
                </a:solidFill>
                <a:latin typeface="Malgun Gothic"/>
              </a:rPr>
              <a:t>원클릭 자동 가격평가는 어떻게 동작하나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5943600" cy="749808"/>
          </a:xfrm>
          <a:prstGeom prst="rect">
            <a:avLst/>
          </a:prstGeom>
          <a:solidFill>
            <a:srgbClr val="F5F8FC"/>
          </a:solidFill>
          <a:ln w="9525">
            <a:solidFill>
              <a:srgbClr val="E6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74519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4FC0"/>
                </a:solidFill>
                <a:latin typeface="Malgun Gothic"/>
              </a:rPr>
              <a:t>① 부동산원가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167128"/>
            <a:ext cx="5577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A6572"/>
                </a:solidFill>
                <a:latin typeface="Malgun Gothic"/>
              </a:rPr>
              <a:t>토지 개별공시지가 + 표준지 공시지가 + 건물 시가표준액 + 역세권·개발호재·용도지역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51760"/>
            <a:ext cx="5943600" cy="749808"/>
          </a:xfrm>
          <a:prstGeom prst="rect">
            <a:avLst/>
          </a:prstGeom>
          <a:solidFill>
            <a:srgbClr val="F5F8FC"/>
          </a:solidFill>
          <a:ln w="9525">
            <a:solidFill>
              <a:srgbClr val="E6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743200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4FC0"/>
                </a:solidFill>
                <a:latin typeface="Malgun Gothic"/>
              </a:rPr>
              <a:t>② 수익률 기준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035808"/>
            <a:ext cx="5577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A6572"/>
                </a:solidFill>
                <a:latin typeface="Malgun Gothic"/>
              </a:rPr>
              <a:t>지역별 매매가 대비 평균 임대수익률 + 임차업종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20439"/>
            <a:ext cx="5943600" cy="749808"/>
          </a:xfrm>
          <a:prstGeom prst="rect">
            <a:avLst/>
          </a:prstGeom>
          <a:solidFill>
            <a:srgbClr val="F5F8FC"/>
          </a:solidFill>
          <a:ln w="9525">
            <a:solidFill>
              <a:srgbClr val="E6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611879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4FC0"/>
                </a:solidFill>
                <a:latin typeface="Malgun Gothic"/>
              </a:rPr>
              <a:t>③ 실거래 비교 기준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904487"/>
            <a:ext cx="5577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A6572"/>
                </a:solidFill>
                <a:latin typeface="Malgun Gothic"/>
              </a:rPr>
              <a:t>반경 1m~500m 매매사례(최근·월/분기/연도 평균) + 평가 부동산 기본정보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26280"/>
            <a:ext cx="6035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C2430"/>
                </a:solidFill>
                <a:latin typeface="Malgun Gothic"/>
              </a:rPr>
              <a:t>대상  </a:t>
            </a:r>
            <a:r>
              <a:rPr sz="1100" b="0">
                <a:solidFill>
                  <a:srgbClr val="5A6572"/>
                </a:solidFill>
                <a:latin typeface="Malgun Gothic"/>
              </a:rPr>
              <a:t>건물·모텔·상가주택·원룸 = 3기준 / 토지·주택·주유소 = 2기준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C8781A"/>
                </a:solidFill>
                <a:latin typeface="Malgun Gothic"/>
              </a:rPr>
              <a:t>관찰  </a:t>
            </a:r>
            <a:r>
              <a:rPr sz="1100" b="0">
                <a:solidFill>
                  <a:srgbClr val="5A6572"/>
                </a:solidFill>
                <a:latin typeface="Malgun Gothic"/>
              </a:rPr>
              <a:t>정성적 요인(경기·금리·환금성) 검토라 표준 자동산식 아님 · 정확도 수치 미공개 · '참고용' 명시</a:t>
            </a:r>
          </a:p>
        </p:txBody>
      </p:sp>
      <p:pic>
        <p:nvPicPr>
          <p:cNvPr id="17" name="Picture 16" descr="gunmul_apprais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5764" y="1371600"/>
            <a:ext cx="3867912" cy="4297680"/>
          </a:xfrm>
          <a:prstGeom prst="rect">
            <a:avLst/>
          </a:prstGeom>
          <a:ln w="9525">
            <a:solidFill>
              <a:srgbClr val="E6EAEF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6583680" y="571500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A6572"/>
                </a:solidFill>
                <a:latin typeface="Malgun Gothic"/>
              </a:rPr>
              <a:t>▲ 실행화면: 3기준 추출방식 · 제공지역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62895" y="6510528"/>
            <a:ext cx="1463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AAB2BC"/>
                </a:solidFill>
                <a:latin typeface="Malgun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2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빌탐정 · 경쟁사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76895" y="15544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B8C4DE"/>
                </a:solidFill>
                <a:latin typeface="Malgun Gothic"/>
              </a:rPr>
              <a:t>04 · 종합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4FC0"/>
                </a:solidFill>
                <a:latin typeface="Malgun Gothic"/>
              </a:rPr>
              <a:t>04 종합 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33271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C2430"/>
                </a:solidFill>
                <a:latin typeface="Malgun Gothic"/>
              </a:rPr>
              <a:t>세 축이 분리되어 있다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737360"/>
          <a:ext cx="656082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668780"/>
                <a:gridCol w="1668780"/>
                <a:gridCol w="1668780"/>
              </a:tblGrid>
              <a:tr h="483325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>
                    <a:solidFill>
                      <a:srgbClr val="122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</a:rPr>
                        <a:t>부기사</a:t>
                      </a:r>
                    </a:p>
                  </a:txBody>
                  <a:tcPr>
                    <a:solidFill>
                      <a:srgbClr val="122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</a:rPr>
                        <a:t>디스코</a:t>
                      </a:r>
                    </a:p>
                  </a:txBody>
                  <a:tcPr>
                    <a:solidFill>
                      <a:srgbClr val="122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</a:rPr>
                        <a:t>건물닷컴</a:t>
                      </a:r>
                    </a:p>
                  </a:txBody>
                  <a:tcPr>
                    <a:solidFill>
                      <a:srgbClr val="122A5C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C2430"/>
                          </a:solidFill>
                          <a:latin typeface="Malgun Gothic"/>
                        </a:rPr>
                        <a:t>초점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C2430"/>
                          </a:solidFill>
                          <a:latin typeface="Malgun Gothic"/>
                        </a:rPr>
                        <a:t>중개 운영관리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C2430"/>
                          </a:solidFill>
                          <a:latin typeface="Malgun Gothic"/>
                        </a:rPr>
                        <a:t>데이터 조회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C2430"/>
                          </a:solidFill>
                          <a:latin typeface="Malgun Gothic"/>
                        </a:rPr>
                        <a:t>가치평가+실매물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C2430"/>
                          </a:solidFill>
                          <a:latin typeface="Malgun Gothic"/>
                        </a:rPr>
                        <a:t>매물 CRM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C2430"/>
                          </a:solidFill>
                          <a:latin typeface="Malgun Gothic"/>
                        </a:rPr>
                        <a:t>●●● 고객·직원·수수료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C2430"/>
                          </a:solidFill>
                          <a:latin typeface="Malgun Gothic"/>
                        </a:rPr>
                        <a:t>● 경량 등록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C2430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C2430"/>
                          </a:solidFill>
                          <a:latin typeface="Malgun Gothic"/>
                        </a:rPr>
                        <a:t>가치평가/보고서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C2430"/>
                          </a:solidFill>
                          <a:latin typeface="Malgun Gothic"/>
                        </a:rPr>
                        <a:t>○ 계산기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C2430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C2430"/>
                          </a:solidFill>
                          <a:latin typeface="Malgun Gothic"/>
                        </a:rPr>
                        <a:t>●● 3기준+컨설팅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C2430"/>
                          </a:solidFill>
                          <a:latin typeface="Malgun Gothic"/>
                        </a:rPr>
                        <a:t>데이터 조회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C2430"/>
                          </a:solidFill>
                          <a:latin typeface="Malgun Gothic"/>
                        </a:rPr>
                        <a:t>●●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C2430"/>
                          </a:solidFill>
                          <a:latin typeface="Malgun Gothic"/>
                        </a:rPr>
                        <a:t>●●●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C2430"/>
                          </a:solidFill>
                          <a:latin typeface="Malgun Gothic"/>
                        </a:rPr>
                        <a:t>●●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C2430"/>
                          </a:solidFill>
                          <a:latin typeface="Malgun Gothic"/>
                        </a:rPr>
                        <a:t>가격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C2430"/>
                          </a:solidFill>
                          <a:latin typeface="Malgun Gothic"/>
                        </a:rPr>
                        <a:t>연 100만~400만+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C2430"/>
                          </a:solidFill>
                          <a:latin typeface="Malgun Gothic"/>
                        </a:rPr>
                        <a:t>무료(등기만 유료)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C2430"/>
                          </a:solidFill>
                          <a:latin typeface="Malgun Gothic"/>
                        </a:rPr>
                        <a:t>매각평가 무료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333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C2430"/>
                          </a:solidFill>
                          <a:latin typeface="Malgun Gothic"/>
                        </a:rPr>
                        <a:t>타겟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C2430"/>
                          </a:solidFill>
                          <a:latin typeface="Malgun Gothic"/>
                        </a:rPr>
                        <a:t>개업중개사·법인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C2430"/>
                          </a:solidFill>
                          <a:latin typeface="Malgun Gothic"/>
                        </a:rPr>
                        <a:t>중개인·투자자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C2430"/>
                          </a:solidFill>
                          <a:latin typeface="Malgun Gothic"/>
                        </a:rPr>
                        <a:t>상업 투자·중개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06640" y="1737360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2430"/>
                </a:solidFill>
                <a:latin typeface="Malgun Gothic"/>
              </a:rPr>
              <a:t>시사점 (객관)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2194560"/>
            <a:ext cx="438912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50" b="1">
                <a:solidFill>
                  <a:srgbClr val="1A4FC0"/>
                </a:solidFill>
                <a:latin typeface="Malgun Gothic"/>
              </a:rPr>
              <a:t>• </a:t>
            </a:r>
            <a:r>
              <a:rPr sz="1150" b="1">
                <a:solidFill>
                  <a:srgbClr val="1C2430"/>
                </a:solidFill>
                <a:latin typeface="Malgun Gothic"/>
              </a:rPr>
              <a:t>운영관리·조회·평가 세 축이 분리</a:t>
            </a:r>
            <a:r>
              <a:rPr sz="1050" b="0">
                <a:solidFill>
                  <a:srgbClr val="5A6572"/>
                </a:solidFill>
                <a:latin typeface="Malgun Gothic"/>
              </a:rPr>
              <a:t> — 통합 사업자 부재</a:t>
            </a:r>
          </a:p>
          <a:p>
            <a:pPr algn="l">
              <a:spcAft>
                <a:spcPts val="1000"/>
              </a:spcAft>
            </a:pPr>
            <a:r>
              <a:rPr sz="1150" b="1">
                <a:solidFill>
                  <a:srgbClr val="1A4FC0"/>
                </a:solidFill>
                <a:latin typeface="Malgun Gothic"/>
              </a:rPr>
              <a:t>• </a:t>
            </a:r>
            <a:r>
              <a:rPr sz="1150" b="1">
                <a:solidFill>
                  <a:srgbClr val="1C2430"/>
                </a:solidFill>
                <a:latin typeface="Malgun Gothic"/>
              </a:rPr>
              <a:t>가치평가는 자동(정성)·컨설팅(수기)로 갈림</a:t>
            </a:r>
            <a:r>
              <a:rPr sz="1050" b="0">
                <a:solidFill>
                  <a:srgbClr val="5A6572"/>
                </a:solidFill>
                <a:latin typeface="Malgun Gothic"/>
              </a:rPr>
              <a:t> — 즉석·투명·중개워크플로 결합은 빈 자리</a:t>
            </a:r>
          </a:p>
          <a:p>
            <a:pPr algn="l">
              <a:spcAft>
                <a:spcPts val="1000"/>
              </a:spcAft>
            </a:pPr>
            <a:r>
              <a:rPr sz="1150" b="1">
                <a:solidFill>
                  <a:srgbClr val="1A4FC0"/>
                </a:solidFill>
                <a:latin typeface="Malgun Gothic"/>
              </a:rPr>
              <a:t>• </a:t>
            </a:r>
            <a:r>
              <a:rPr sz="1150" b="1">
                <a:solidFill>
                  <a:srgbClr val="1C2430"/>
                </a:solidFill>
                <a:latin typeface="Malgun Gothic"/>
              </a:rPr>
              <a:t>공개 유저 리뷰 희소</a:t>
            </a:r>
            <a:r>
              <a:rPr sz="1050" b="0">
                <a:solidFill>
                  <a:srgbClr val="5A6572"/>
                </a:solidFill>
                <a:latin typeface="Malgun Gothic"/>
              </a:rPr>
              <a:t> — 입소문·영업 중심 시장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62895" y="6510528"/>
            <a:ext cx="1463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AAB2BC"/>
                </a:solidFill>
                <a:latin typeface="Malgun Gothic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