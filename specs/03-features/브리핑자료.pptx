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6327648"/>
  <p:notesSz cx="6327648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static/assets/cover_fix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6327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ln w="9525">
                  <a:solidFill>
                    <a:srgbClr val="FFFFFF"/>
                  </a:solidFill>
                </a:ln>
                <a:solidFill>
                  <a:srgbClr val="006EC3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The 두꺼비 부동산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5486400" y="5062118"/>
            <a:ext cx="3474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담당자: 이사 김정돈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연락처 : 010-2639-6946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팩스 : 0504-425-1151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이메일 : donjuang100@naver.com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주소 : 서울시 천호대로 111길 20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320040"/>
            <a:ext cx="6858000" cy="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762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3333"/>
                </a:solidFill>
              </a:rPr>
              <a:t>01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2880" y="594360"/>
            <a:ext cx="8778240" cy="27432"/>
          </a:xfrm>
          <a:prstGeom prst="rect">
            <a:avLst/>
          </a:prstGeom>
          <a:solidFill>
            <a:srgbClr val="006EC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76656"/>
            <a:ext cx="3429000" cy="5413248"/>
          </a:xfrm>
          <a:prstGeom prst="rect">
            <a:avLst/>
          </a:prstGeom>
        </p:spPr>
      </p:pic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12464" y="685800"/>
          <a:ext cx="5248656" cy="4242816"/>
        </p:xfrm>
        <a:graphic>
          <a:graphicData uri="http://schemas.openxmlformats.org/drawingml/2006/table">
            <a:tbl>
              <a:tblPr/>
              <a:tblGrid>
                <a:gridCol w="1049731"/>
                <a:gridCol w="1049731"/>
                <a:gridCol w="1049731"/>
                <a:gridCol w="1049731"/>
                <a:gridCol w="1049731"/>
              </a:tblGrid>
              <a:tr h="347472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소재지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주소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347472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도로상황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347472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토지정보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대지면적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m²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평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347472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용도지역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</a:tr>
              <a:tr h="347472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공시지가(m²)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원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합계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원</a:t>
                      </a:r>
                      <a:endParaRPr lang="en-US" sz="9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 rowSpan="5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건물정보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연면적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m²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평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347472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건축면적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m²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평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347472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건폐율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용적률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규모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 ~ 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주차대수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준공년도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승강기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 row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금융정보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EC3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매매가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 억</a:t>
                      </a:r>
                      <a:endParaRPr lang="en-US" sz="14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6EC3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수익률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%</a:t>
                      </a:r>
                      <a:endParaRPr lang="en-US" sz="14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평단가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 만원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평단가(연면적당)</a:t>
                      </a:r>
                      <a:endParaRPr lang="en-US" sz="8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 만원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보증금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 만원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임대료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 만원</a:t>
                      </a:r>
                      <a:endParaRPr lang="en-US" sz="10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 gridSpan="5"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666666"/>
                          </a:solidFill>
                          <a:latin typeface="맑은고딕" pitchFamily="34" charset="0"/>
                          <a:ea typeface="맑은고딕" pitchFamily="34" charset="-122"/>
                          <a:cs typeface="맑은고딕" pitchFamily="34" charset="-120"/>
                        </a:rPr>
                        <a:t>* 토지이용계획확인원 및 건축물대장 기준 작성</a:t>
                      </a:r>
                      <a:endParaRPr lang="en-US" sz="800" dirty="0">
                        <a:latin typeface="맑은고딕" charset="0"/>
                        <a:ea typeface="맑은고딕" charset="0"/>
                        <a:cs typeface="맑은고딕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6144768"/>
            <a:ext cx="9144000" cy="182880"/>
          </a:xfrm>
          <a:prstGeom prst="rect">
            <a:avLst/>
          </a:prstGeom>
          <a:solidFill>
            <a:srgbClr val="006EC3"/>
          </a:solidFill>
          <a:ln/>
        </p:spPr>
      </p:sp>
      <p:sp>
        <p:nvSpPr>
          <p:cNvPr id="7" name="Text 3"/>
          <p:cNvSpPr/>
          <p:nvPr/>
        </p:nvSpPr>
        <p:spPr>
          <a:xfrm>
            <a:off x="0" y="614476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본 자료는 제 3자에게 무단복제, 유포, 변경하지 않는 것에 동의하는 전제로 귀사에게 제공합니다. 이를 위반할 경우 법적 책임을 질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594360"/>
            <a:ext cx="8778240" cy="27432"/>
          </a:xfrm>
          <a:prstGeom prst="rect">
            <a:avLst/>
          </a:prstGeom>
          <a:solidFill>
            <a:srgbClr val="006EC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320040"/>
            <a:ext cx="6858000" cy="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762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333333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44768"/>
            <a:ext cx="9144000" cy="182880"/>
          </a:xfrm>
          <a:prstGeom prst="rect">
            <a:avLst/>
          </a:prstGeom>
          <a:solidFill>
            <a:srgbClr val="006EC3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614476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본 자료는 제 3자에게 무단복제, 유포, 변경하지 않는 것에 동의하는 전제로 귀사에게 제공합니다. 이를 위반할 경우 법적 책임을 질 수 있습니다.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94944"/>
            <a:ext cx="4352544" cy="54041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694944"/>
            <a:ext cx="4352544" cy="5404104"/>
          </a:xfrm>
          <a:prstGeom prst="rect">
            <a:avLst/>
          </a:prstGeom>
          <a:ln w="19050">
            <a:solidFill>
              <a:srgbClr val="006EC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694944"/>
            <a:ext cx="4352544" cy="540410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81144" y="694944"/>
            <a:ext cx="4352544" cy="5404104"/>
          </a:xfrm>
          <a:prstGeom prst="rect">
            <a:avLst/>
          </a:prstGeom>
          <a:ln w="19050">
            <a:solidFill>
              <a:srgbClr val="006EC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173736"/>
            <a:ext cx="18288" cy="5888736"/>
          </a:xfrm>
          <a:prstGeom prst="rect">
            <a:avLst/>
          </a:prstGeom>
          <a:solidFill>
            <a:srgbClr val="006EC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" y="201168"/>
            <a:ext cx="640080" cy="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76200" dir="2700000">
              <a:srgbClr val="000000">
                <a:alpha val="50000"/>
              </a:srgbClr>
            </a:outerShdw>
          </a:effectLst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33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6144768"/>
            <a:ext cx="9144000" cy="182880"/>
          </a:xfrm>
          <a:prstGeom prst="rect">
            <a:avLst/>
          </a:prstGeom>
          <a:solidFill>
            <a:srgbClr val="006EC3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614476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본 자료는 제 3자에게 무단복제, 유포, 변경하지 않는 것에 동의하는 전제로 귀사에게 제공합니다. 이를 위반할 경우 법적 책임을 질 수 있습니다.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1168"/>
            <a:ext cx="8357616" cy="5797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320040"/>
            <a:ext cx="6858000" cy="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76200" dir="270000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33333"/>
                </a:solidFill>
              </a:rPr>
              <a:t>04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82880" y="594360"/>
            <a:ext cx="8778240" cy="27432"/>
          </a:xfrm>
          <a:prstGeom prst="rect">
            <a:avLst/>
          </a:prstGeom>
          <a:solidFill>
            <a:srgbClr val="006EC3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795528"/>
          <a:ext cx="8659368" cy="914400"/>
        </p:xfrm>
        <a:graphic>
          <a:graphicData uri="http://schemas.openxmlformats.org/drawingml/2006/table">
            <a:tbl>
              <a:tblPr/>
              <a:tblGrid>
                <a:gridCol w="1237053"/>
                <a:gridCol w="1237053"/>
                <a:gridCol w="1237053"/>
                <a:gridCol w="1237053"/>
                <a:gridCol w="1237053"/>
                <a:gridCol w="1237053"/>
                <a:gridCol w="1237053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층(호)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형태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평수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보증금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월임대료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월관리비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임대차 기간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C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합 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0 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0 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0 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6692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* 본 임대 내역은 임대인의 진술에 의해 작성되었으므로 사실과 약간의 차이가 발생할 수 있음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* 월임대료 부가세 별도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0" y="6144768"/>
            <a:ext cx="9144000" cy="182880"/>
          </a:xfrm>
          <a:prstGeom prst="rect">
            <a:avLst/>
          </a:prstGeom>
          <a:solidFill>
            <a:srgbClr val="006EC3"/>
          </a:solidFill>
          <a:ln/>
        </p:spPr>
      </p:sp>
      <p:sp>
        <p:nvSpPr>
          <p:cNvPr id="8" name="Text 5"/>
          <p:cNvSpPr/>
          <p:nvPr/>
        </p:nvSpPr>
        <p:spPr>
          <a:xfrm>
            <a:off x="0" y="614476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본 자료는 제 3자에게 무단복제, 유포, 변경하지 않는 것에 동의하는 전제로 귀사에게 제공합니다. 이를 위반할 경우 법적 책임을 질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44768"/>
            <a:ext cx="9144000" cy="182880"/>
          </a:xfrm>
          <a:prstGeom prst="rect">
            <a:avLst/>
          </a:prstGeom>
          <a:solidFill>
            <a:srgbClr val="006EC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614476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본 자료는 제 3자에게 무단복제, 유포, 변경하지 않는 것에 동의하는 전제로 귀사에게 제공합니다. 이를 위반할 경우 법적 책임을 질 수 있습니다.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" y="201168"/>
            <a:ext cx="640080" cy="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76200" dir="2700000">
              <a:srgbClr val="000000">
                <a:alpha val="50000"/>
              </a:srgbClr>
            </a:outerShdw>
          </a:effectLst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33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58368" y="173736"/>
            <a:ext cx="18288" cy="5888736"/>
          </a:xfrm>
          <a:prstGeom prst="rect">
            <a:avLst/>
          </a:prstGeom>
          <a:solidFill>
            <a:srgbClr val="006EC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"/>
            <a:ext cx="3840480" cy="59344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0" y="182880"/>
            <a:ext cx="0" cy="557784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4572000" y="201168"/>
            <a:ext cx="640080" cy="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76200" dir="2700000">
              <a:srgbClr val="000000">
                <a:alpha val="50000"/>
              </a:srgbClr>
            </a:outerShdw>
          </a:effectLst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33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06</a:t>
            </a:r>
            <a:endParaRPr lang="en-US" sz="2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3792" y="128016"/>
            <a:ext cx="3840480" cy="5934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static/assets/cover_fixed_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63276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640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ln w="9525">
                  <a:solidFill>
                    <a:srgbClr val="FFFFFF"/>
                  </a:solidFill>
                </a:ln>
                <a:solidFill>
                  <a:srgbClr val="006EC3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성공적인 투자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0" y="5694883"/>
            <a:ext cx="9144000" cy="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5200" b="1" dirty="0">
                <a:ln w="9525">
                  <a:solidFill>
                    <a:srgbClr val="FFFFFF"/>
                  </a:solidFill>
                </a:ln>
                <a:solidFill>
                  <a:srgbClr val="006EC3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The </a:t>
            </a:r>
            <a:pPr algn="ctr" indent="0" marL="0">
              <a:buNone/>
            </a:pPr>
            <a:r>
              <a:rPr lang="en-US" sz="5200" b="1" dirty="0">
                <a:ln w="9525">
                  <a:solidFill>
                    <a:srgbClr val="FFFFFF"/>
                  </a:solidFill>
                </a:ln>
                <a:solidFill>
                  <a:srgbClr val="006EC3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두꺼비</a:t>
            </a:r>
            <a:pPr algn="ctr" indent="0" marL="0">
              <a:buNone/>
            </a:pPr>
            <a:r>
              <a:rPr lang="en-US" sz="5200" dirty="0">
                <a:ln w="9525">
                  <a:solidFill>
                    <a:srgbClr val="FFFFFF"/>
                  </a:solidFill>
                </a:ln>
                <a:solidFill>
                  <a:srgbClr val="FFFFFF"/>
                </a:solidFill>
                <a:latin typeface="맑은고딕" pitchFamily="34" charset="0"/>
                <a:ea typeface="맑은고딕" pitchFamily="34" charset="-122"/>
                <a:cs typeface="맑은고딕" pitchFamily="34" charset="-120"/>
              </a:rPr>
              <a:t>가 함께 하겠습니다</a:t>
            </a:r>
            <a:endParaRPr lang="en-US" sz="5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2026-07-18T06:17:42Z</dcterms:created>
  <dcterms:modified xsi:type="dcterms:W3CDTF">2026-07-18T06:17:42Z</dcterms:modified>
</cp:coreProperties>
</file>