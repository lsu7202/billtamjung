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항목별 점수(배점 대비 %)</c:v>
                </c:pt>
              </c:strCache>
            </c:strRef>
          </c:tx>
          <c:spPr>
            <a:solidFill>
              <a:srgbClr val="2E3F7F"/>
            </a:solidFill>
            <a:ln w="25400" cap="flat">
              <a:solidFill>
                <a:srgbClr val="2E3F7F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2E3F7F"/>
              </a:solidFill>
              <a:ln w="9525" cap="flat">
                <a:solidFill>
                  <a:srgbClr val="2E3F7F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도로접면</c:v>
                </c:pt>
                <c:pt idx="1">
                  <c:v>역과의거리</c:v>
                </c:pt>
                <c:pt idx="2">
                  <c:v>용도지역</c:v>
                </c:pt>
                <c:pt idx="3">
                  <c:v>지형형상</c:v>
                </c:pt>
                <c:pt idx="4">
                  <c:v>사용승인일</c:v>
                </c:pt>
                <c:pt idx="5">
                  <c:v>엘리베이터</c:v>
                </c:pt>
                <c:pt idx="6">
                  <c:v>대수선·리모델링</c:v>
                </c:pt>
                <c:pt idx="7">
                  <c:v>경사도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85.0</c:v>
                </c:pt>
                <c:pt idx="1">
                  <c:v>91.0</c:v>
                </c:pt>
                <c:pt idx="2">
                  <c:v>90.0</c:v>
                </c:pt>
                <c:pt idx="3">
                  <c:v>80.0</c:v>
                </c:pt>
                <c:pt idx="4">
                  <c:v>70.0</c:v>
                </c:pt>
                <c:pt idx="5">
                  <c:v>80.0</c:v>
                </c:pt>
                <c:pt idx="6">
                  <c:v>70.0</c:v>
                </c:pt>
                <c:pt idx="7">
                  <c:v>60.0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F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F1A2E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F1A2E"/>
                </a:solidFill>
                <a:latin typeface="Arial"/>
              </a:rPr>
              <a:t>연면적당 평단가 비교 (만원/평)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유사사례 평단가</c:v>
                </c:pt>
              </c:strCache>
            </c:strRef>
          </c:tx>
          <c:spPr>
            <a:solidFill>
              <a:srgbClr val="2E3F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5555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사례1</c:v>
                  </c:pt>
                  <c:pt idx="1">
                    <c:v>사례2</c:v>
                  </c:pt>
                  <c:pt idx="2">
                    <c:v>사례3</c:v>
                  </c:pt>
                  <c:pt idx="3">
                    <c:v>사례4</c:v>
                  </c:pt>
                  <c:pt idx="4">
                    <c:v>사례5</c:v>
                  </c:pt>
                  <c:pt idx="5">
                    <c:v>사례6</c:v>
                  </c:pt>
                  <c:pt idx="6">
                    <c:v>사례7</c:v>
                  </c:pt>
                  <c:pt idx="7">
                    <c:v>본 매물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5355</c:v>
                </c:pt>
                <c:pt idx="1">
                  <c:v>4939</c:v>
                </c:pt>
                <c:pt idx="2">
                  <c:v>4905</c:v>
                </c:pt>
                <c:pt idx="3">
                  <c:v>4977</c:v>
                </c:pt>
                <c:pt idx="4">
                  <c:v>4879</c:v>
                </c:pt>
                <c:pt idx="5">
                  <c:v>4804</c:v>
                </c:pt>
                <c:pt idx="6">
                  <c:v>4712</c:v>
                </c:pt>
                <c:pt idx="7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본 매물 적용</c:v>
                </c:pt>
              </c:strCache>
            </c:strRef>
          </c:tx>
          <c:spPr>
            <a:solidFill>
              <a:srgbClr val="1E5A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5555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사례1</c:v>
                  </c:pt>
                  <c:pt idx="1">
                    <c:v>사례2</c:v>
                  </c:pt>
                  <c:pt idx="2">
                    <c:v>사례3</c:v>
                  </c:pt>
                  <c:pt idx="3">
                    <c:v>사례4</c:v>
                  </c:pt>
                  <c:pt idx="4">
                    <c:v>사례5</c:v>
                  </c:pt>
                  <c:pt idx="5">
                    <c:v>사례6</c:v>
                  </c:pt>
                  <c:pt idx="6">
                    <c:v>사례7</c:v>
                  </c:pt>
                  <c:pt idx="7">
                    <c:v>본 매물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4548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5555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-1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600"/>
          <c:min val="4000"/>
        </c:scaling>
        <c:delete val="0"/>
        <c:axPos val="l"/>
        <c:majorGridlines>
          <c:spPr>
            <a:ln w="6350" cap="flat">
              <a:solidFill>
                <a:srgbClr val="E8EC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4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F1A2E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F1A2E"/>
                </a:solidFill>
                <a:latin typeface="Arial"/>
              </a:rPr>
              <a:t>층별 현재 월세 vs 주변월세시세 (만원)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현재 월세</c:v>
                </c:pt>
              </c:strCache>
            </c:strRef>
          </c:tx>
          <c:spPr>
            <a:solidFill>
              <a:srgbClr val="2E3F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5555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지하1층</c:v>
                  </c:pt>
                  <c:pt idx="1">
                    <c:v>1층</c:v>
                  </c:pt>
                  <c:pt idx="2">
                    <c:v>2층</c:v>
                  </c:pt>
                  <c:pt idx="3">
                    <c:v>3층</c:v>
                  </c:pt>
                  <c:pt idx="4">
                    <c:v>4층</c:v>
                  </c:pt>
                  <c:pt idx="5">
                    <c:v>5층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180</c:v>
                </c:pt>
                <c:pt idx="1">
                  <c:v>480</c:v>
                </c:pt>
                <c:pt idx="2">
                  <c:v>250</c:v>
                </c:pt>
                <c:pt idx="3">
                  <c:v>210</c:v>
                </c:pt>
                <c:pt idx="4">
                  <c:v>190</c:v>
                </c:pt>
                <c:pt idx="5">
                  <c:v>180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주변월세시세</c:v>
                </c:pt>
              </c:strCache>
            </c:strRef>
          </c:tx>
          <c:spPr>
            <a:solidFill>
              <a:srgbClr val="1E5A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5555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지하1층</c:v>
                  </c:pt>
                  <c:pt idx="1">
                    <c:v>1층</c:v>
                  </c:pt>
                  <c:pt idx="2">
                    <c:v>2층</c:v>
                  </c:pt>
                  <c:pt idx="3">
                    <c:v>3층</c:v>
                  </c:pt>
                  <c:pt idx="4">
                    <c:v>4층</c:v>
                  </c:pt>
                  <c:pt idx="5">
                    <c:v>5층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190</c:v>
                </c:pt>
                <c:pt idx="1">
                  <c:v>530</c:v>
                </c:pt>
                <c:pt idx="2">
                  <c:v>270</c:v>
                </c:pt>
                <c:pt idx="3">
                  <c:v>225</c:v>
                </c:pt>
                <c:pt idx="4">
                  <c:v>205</c:v>
                </c:pt>
                <c:pt idx="5">
                  <c:v>223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5555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  <c:min val="0"/>
        </c:scaling>
        <c:delete val="0"/>
        <c:axPos val="l"/>
        <c:majorGridlines>
          <c:spPr>
            <a:ln w="6350" cap="flat">
              <a:solidFill>
                <a:srgbClr val="E8EC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</a:t>
            </a:r>
            <a:pPr indent="0" marL="0">
              <a:buNone/>
            </a:pPr>
            <a:r>
              <a:rPr lang="en-US" sz="90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BILLTAMJUNG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|   신뢰할 수 있는 부동산 가치분석 파트너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589520" y="1645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 No.  </a:t>
            </a:r>
            <a:pPr algn="r" indent="0" marL="0">
              <a:buNone/>
            </a:pPr>
            <a:r>
              <a:rPr lang="en-US" sz="9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BT-2026-000104</a:t>
            </a:r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분석일  2026.06.28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역삼동 735-29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84632" y="148132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역삼역 도보권 근생빌딩 분석보고서</a:t>
            </a:r>
            <a:endParaRPr lang="en-US" sz="1400" dirty="0"/>
          </a:p>
        </p:txBody>
      </p:sp>
      <p:pic>
        <p:nvPicPr>
          <p:cNvPr id="6" name="Image 0" descr="pho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65960"/>
            <a:ext cx="4251960" cy="42885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83480" y="1965960"/>
            <a:ext cx="6748272" cy="621792"/>
          </a:xfrm>
          <a:prstGeom prst="roundRect">
            <a:avLst>
              <a:gd name="adj" fmla="val 10294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212080" y="196596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가치점수</a:t>
            </a:r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입지·건물·환경 종합 평가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732520" y="2148840"/>
            <a:ext cx="1051560" cy="274320"/>
          </a:xfrm>
          <a:prstGeom prst="roundRect">
            <a:avLst>
              <a:gd name="adj" fmla="val 40000"/>
            </a:avLst>
          </a:prstGeom>
          <a:solidFill>
            <a:srgbClr val="1E5AF0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732520" y="21488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A등급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784080" y="196596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82.2</a:t>
            </a:r>
            <a:pPr algn="r" indent="0" marL="0">
              <a:buNone/>
            </a:pPr>
            <a:r>
              <a:rPr lang="en-US" sz="11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점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4983480" y="2688336"/>
            <a:ext cx="6748272" cy="621792"/>
          </a:xfrm>
          <a:prstGeom prst="roundRect">
            <a:avLst>
              <a:gd name="adj" fmla="val 10294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212080" y="2688336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매도희망가</a:t>
            </a:r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매도인 제시 가격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784080" y="2688336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</a:t>
            </a:r>
            <a:pPr algn="r" indent="0" marL="0">
              <a:buNone/>
            </a:pPr>
            <a:r>
              <a:rPr lang="en-US" sz="11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억원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4983480" y="3410712"/>
            <a:ext cx="6748272" cy="621792"/>
          </a:xfrm>
          <a:prstGeom prst="roundRect">
            <a:avLst>
              <a:gd name="adj" fmla="val 10294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212080" y="3410712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 적정매매가</a:t>
            </a:r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매매사례 분석 기반 추정 가치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784080" y="3410712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E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101</a:t>
            </a:r>
            <a:pPr algn="r" indent="0" marL="0">
              <a:buNone/>
            </a:pPr>
            <a:r>
              <a:rPr lang="en-US" sz="1100" b="1" dirty="0">
                <a:solidFill>
                  <a:srgbClr val="1E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억원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4983480" y="4133088"/>
            <a:ext cx="6748272" cy="621792"/>
          </a:xfrm>
          <a:prstGeom prst="roundRect">
            <a:avLst>
              <a:gd name="adj" fmla="val 10294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212080" y="413308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협의 필요금액</a:t>
            </a:r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매도희망가 − 적정매매가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732520" y="4315968"/>
            <a:ext cx="1051560" cy="274320"/>
          </a:xfrm>
          <a:prstGeom prst="roundRect">
            <a:avLst>
              <a:gd name="adj" fmla="val 40000"/>
            </a:avLst>
          </a:prstGeom>
          <a:solidFill>
            <a:srgbClr val="FDEDD9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8732520" y="43159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협의 필요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784080" y="4133088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pPr algn="r" indent="0" marL="0">
              <a:buNone/>
            </a:pPr>
            <a:r>
              <a:rPr lang="en-US" sz="110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억원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4983480" y="4855464"/>
            <a:ext cx="6748272" cy="621792"/>
          </a:xfrm>
          <a:prstGeom prst="roundRect">
            <a:avLst>
              <a:gd name="adj" fmla="val 10294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5212080" y="485546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주변월세시세 적용 총월세</a:t>
            </a:r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연임대료 추정치 1억 9,716만원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784080" y="4855464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1,643</a:t>
            </a:r>
            <a:pPr algn="r" indent="0" marL="0">
              <a:buNone/>
            </a:pPr>
            <a:r>
              <a:rPr lang="en-US" sz="11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만원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4983480" y="5577840"/>
            <a:ext cx="6748272" cy="621792"/>
          </a:xfrm>
          <a:prstGeom prst="roundRect">
            <a:avLst>
              <a:gd name="adj" fmla="val 10294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5212080" y="557784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예상수익률</a:t>
            </a:r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적정매매가 기준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784080" y="557784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6C3F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1.95</a:t>
            </a:r>
            <a:pPr algn="r" indent="0" marL="0">
              <a:buNone/>
            </a:pPr>
            <a:r>
              <a:rPr lang="en-US" sz="1100" b="1" dirty="0">
                <a:solidFill>
                  <a:srgbClr val="6C3F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%</a:t>
            </a:r>
            <a:endParaRPr lang="en-US" sz="2400" dirty="0"/>
          </a:p>
        </p:txBody>
      </p:sp>
      <p:sp>
        <p:nvSpPr>
          <p:cNvPr id="29" name="Shape 26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457200" y="652881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분석보고서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3657600" y="652881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보고서는 빌탐정의 자체 조사·분석을 기반으로 작성되었으며, 실제 거래 시 시세 변동 및 개별 조건에 따라 차이가 발생할 수 있습니다.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10515600" y="65288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 </a:t>
            </a:r>
            <a:pPr algn="r" indent="0" marL="0">
              <a:buNone/>
            </a:pPr>
            <a:r>
              <a:rPr lang="en-US" sz="85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BILLTAMJUNG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</a:t>
            </a:r>
            <a:pPr indent="0" marL="0">
              <a:buNone/>
            </a:pPr>
            <a:r>
              <a:rPr lang="en-US" sz="90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BILLTAMJUNG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|   신뢰할 수 있는 부동산 가치분석 파트너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589520" y="1645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 No.  </a:t>
            </a:r>
            <a:pPr algn="r" indent="0" marL="0">
              <a:buNone/>
            </a:pPr>
            <a:r>
              <a:rPr lang="en-US" sz="9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BT-2026-000104</a:t>
            </a:r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분석일  2026.06.28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6583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매물 기본정보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07008" y="11155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건물의 기본정보 및 입지 정보를 확인하세요. (토지이용계획확인원 및 건축물대장 기준 작성)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60350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114800"/>
              </a:tblGrid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매도희망가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5A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110억 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대지면적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59.90평  (198.02㎡)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연면적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222.39평  (735.17㎡)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대지 평단가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1.84억 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연면적 평단가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4,946만 원 (호가 기준)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용도지역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일반상업지역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건축물용도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제1종 근린생활시설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건물규모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지하 1층 / 지상 5층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사용승인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2004년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건폐율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58.7%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용적률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332.4%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주차대수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승강기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도로조건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34m(전면) / 14m(측면) · 코너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공실률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0% (공실 없음)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 보증금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9.0억 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 월세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1,490만 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500만 원 (월 평균)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실수익률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1.63% (현재 월세 · 호가 기준)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858000" y="1645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스펙 요약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0" y="2057400"/>
            <a:ext cx="4873752" cy="566928"/>
          </a:xfrm>
          <a:prstGeom prst="roundRect">
            <a:avLst>
              <a:gd name="adj" fmla="val 11290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086600" y="20574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초역세권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549640" y="205740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역삼역 도보권 입지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858000" y="2734056"/>
            <a:ext cx="4873752" cy="566928"/>
          </a:xfrm>
          <a:prstGeom prst="roundRect">
            <a:avLst>
              <a:gd name="adj" fmla="val 11290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086600" y="273405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코너 입지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549640" y="273405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2면 도로 접면 (34m / 14m)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858000" y="3410712"/>
            <a:ext cx="4873752" cy="566928"/>
          </a:xfrm>
          <a:prstGeom prst="roundRect">
            <a:avLst>
              <a:gd name="adj" fmla="val 11290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086600" y="341071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승강기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549640" y="341071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승강기 1대 보유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858000" y="4087368"/>
            <a:ext cx="4873752" cy="566928"/>
          </a:xfrm>
          <a:prstGeom prst="roundRect">
            <a:avLst>
              <a:gd name="adj" fmla="val 11290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7086600" y="408736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549640" y="408736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10대 가능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858000" y="4764024"/>
            <a:ext cx="4873752" cy="566928"/>
          </a:xfrm>
          <a:prstGeom prst="roundRect">
            <a:avLst>
              <a:gd name="adj" fmla="val 11290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086600" y="476402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수익률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8549640" y="476402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1.63%  →  적정가 기준 1.95%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858000" y="5486400"/>
            <a:ext cx="4873752" cy="777240"/>
          </a:xfrm>
          <a:prstGeom prst="roundRect">
            <a:avLst>
              <a:gd name="adj" fmla="val 8235"/>
            </a:avLst>
          </a:prstGeom>
          <a:solidFill>
            <a:srgbClr val="FFF6EC"/>
          </a:solidFill>
          <a:ln w="15875">
            <a:solidFill>
              <a:srgbClr val="EE7D22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7059168" y="54864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총월세 1,490만원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대비 주변월세시세 적용 시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1,643만원(+153만원)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 임대료 개선 여지가 있습니다.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457200" y="652881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매물 기본정보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657600" y="652881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보고서는 빌탐정의 자체 조사·분석을 기반으로 작성되었으며, 실제 거래 시 시세 변동 및 개별 조건에 따라 차이가 발생할 수 있습니다.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10515600" y="65288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 </a:t>
            </a:r>
            <a:pPr algn="r" indent="0" marL="0">
              <a:buNone/>
            </a:pPr>
            <a:r>
              <a:rPr lang="en-US" sz="85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BILLTAMJUNG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</a:t>
            </a:r>
            <a:pPr indent="0" marL="0">
              <a:buNone/>
            </a:pPr>
            <a:r>
              <a:rPr lang="en-US" sz="90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BILLTAMJUNG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|   신뢰할 수 있는 부동산 가치분석 파트너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589520" y="1645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 No.  </a:t>
            </a:r>
            <a:pPr algn="r" indent="0" marL="0">
              <a:buNone/>
            </a:pPr>
            <a:r>
              <a:rPr lang="en-US" sz="9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BT-2026-000104</a:t>
            </a:r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분석일  2026.06.28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6583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흐름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07008" y="11155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빌탐정은 단계별 분석을 통해 본 매물의 현재 적정매매가와 주변월세시세를 체계적으로 산정합니다.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039112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203911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91640" y="1783080"/>
            <a:ext cx="4526280" cy="96012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920240" y="19019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가치점수 분석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20240" y="2286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입지 · 건물 · 환경 종합 평가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32688" y="27157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09544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7200" y="320954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91640" y="2953512"/>
            <a:ext cx="4526280" cy="96012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920240" y="30723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매매사례 시세분석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920240" y="34564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500m 내 최근 5년 유사 거래사례 비교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32688" y="38862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379976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7200" y="437997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691640" y="4123944"/>
            <a:ext cx="4526280" cy="96012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920240" y="42428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주변월세시세 분석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920240" y="46268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층별 유사 월세 광고사례 비교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32688" y="50566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5550408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57200" y="555040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691640" y="5294376"/>
            <a:ext cx="4526280" cy="96012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920240" y="54132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적정매매가 및 수익률 요약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920240" y="57972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적정매매가 · 협의금액 · 예상수익률 정리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583680" y="1783080"/>
            <a:ext cx="5148072" cy="1371600"/>
          </a:xfrm>
          <a:prstGeom prst="roundRect">
            <a:avLst>
              <a:gd name="adj" fmla="val 4667"/>
            </a:avLst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812280" y="19019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 분석 엔진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12280" y="22402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DE3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보고서는 </a:t>
            </a:r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가치점수 분석, 유사 매매사례 분석, 주변월세시세 분석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DE3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종합하여 본 매물의 </a:t>
            </a:r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적정매매가와 주변월세시세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DE3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산출합니다.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583680" y="3383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적용 원칙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83680" y="3767328"/>
            <a:ext cx="5148072" cy="566928"/>
          </a:xfrm>
          <a:prstGeom prst="roundRect">
            <a:avLst>
              <a:gd name="adj" fmla="val 11290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812280" y="37673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반경 500m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869680" y="376732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반경 500m · 상권 중심·반경 직접 조정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583680" y="4425696"/>
            <a:ext cx="5148072" cy="566928"/>
          </a:xfrm>
          <a:prstGeom prst="roundRect">
            <a:avLst>
              <a:gd name="adj" fmla="val 11290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812280" y="442569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최근 5년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869680" y="442569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5년 이내 거래사례 및 광고 적용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583680" y="5084064"/>
            <a:ext cx="5148072" cy="566928"/>
          </a:xfrm>
          <a:prstGeom prst="roundRect">
            <a:avLst>
              <a:gd name="adj" fmla="val 11290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812280" y="508406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가치점수 유사사례 우선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869680" y="508406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 가치점수 사례를 우선 선정하여 적용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583680" y="5742432"/>
            <a:ext cx="5148072" cy="566928"/>
          </a:xfrm>
          <a:prstGeom prst="roundRect">
            <a:avLst>
              <a:gd name="adj" fmla="val 11290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812280" y="574243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매매 · 월세 산정 기준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869680" y="574243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매매는 연면적당 평단가, 월세는 층별 광고사례 기준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457200" y="652881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분석 흐름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657600" y="652881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보고서는 빌탐정의 자체 조사·분석을 기반으로 작성되었으며, 실제 거래 시 시세 변동 및 개별 조건에 따라 차이가 발생할 수 있습니다.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0515600" y="65288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 </a:t>
            </a:r>
            <a:pPr algn="r" indent="0" marL="0">
              <a:buNone/>
            </a:pPr>
            <a:r>
              <a:rPr lang="en-US" sz="85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BILLTAMJUNG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</a:t>
            </a:r>
            <a:pPr indent="0" marL="0">
              <a:buNone/>
            </a:pPr>
            <a:r>
              <a:rPr lang="en-US" sz="90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BILLTAMJUNG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|   신뢰할 수 있는 부동산 가치분석 파트너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589520" y="1645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 No.  </a:t>
            </a:r>
            <a:pPr algn="r" indent="0" marL="0">
              <a:buNone/>
            </a:pPr>
            <a:r>
              <a:rPr lang="en-US" sz="9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BT-2026-000104</a:t>
            </a:r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분석일  2026.06.28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6583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가치점수 분석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07008" y="11155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입지, 교통, 물리적 조건 등 주요 항목을 종합 평가하여 본 매물의 입지적·물리적 조건을 객관적으로 분석한 가치 점수입니다.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65379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960120"/>
                <a:gridCol w="402336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 항목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 결과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분석 의견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>
                          <a:solidFill/>
                        </a:rPr>
                        <a:t>① 도로접면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3F7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전면 34m 및 측면 14m 코너 입지로 접근성과 가시성 우수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>
                          <a:solidFill/>
                        </a:rPr>
                        <a:t>② 역과의거리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5A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매우 우수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역삼역 도보권 입지로 업무수요 접근성 우수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>
                          <a:solidFill/>
                        </a:rPr>
                        <a:t>③ 용도지역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5A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매우 우수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일반상업지역으로 활용성과 거래 선호도 우수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>
                          <a:solidFill/>
                        </a:rPr>
                        <a:t>④ 사용승인일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2004년 사용승인 건물로 관리상태 확인 필요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>
                          <a:solidFill/>
                        </a:rPr>
                        <a:t>⑤ 엘리베이터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B6F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승강기 1대 보유로 상층부 접근성 확보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>
                          <a:solidFill/>
                        </a:rPr>
                        <a:t>⑥ 대수선·리모델링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향후 개선 여부에 따라 임대 경쟁력 보완 가능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>
                          <a:solidFill/>
                        </a:rPr>
                        <a:t>⑦ 지형형상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B6F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코너 필지로 토지 활용성 양호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>
                          <a:solidFill/>
                        </a:rPr>
                        <a:t>⑧ 경사도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및 이용에 큰 제한 없는 일반 수준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315200" y="1691640"/>
            <a:ext cx="441655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5875">
            <a:solidFill>
              <a:srgbClr val="1E2B5C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543800" y="1801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가치점수 총평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543800" y="2011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82.2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100점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10332720" y="1938528"/>
            <a:ext cx="1051560" cy="566928"/>
          </a:xfrm>
          <a:prstGeom prst="roundRect">
            <a:avLst>
              <a:gd name="adj" fmla="val 14516"/>
            </a:avLst>
          </a:prstGeom>
          <a:solidFill>
            <a:srgbClr val="1E5AF0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0332720" y="19385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등급</a:t>
            </a:r>
            <a:endParaRPr lang="en-US" sz="20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7315200" y="2834640"/>
          <a:ext cx="4416552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1"/>
          <p:cNvSpPr/>
          <p:nvPr/>
        </p:nvSpPr>
        <p:spPr>
          <a:xfrm>
            <a:off x="7315200" y="5760720"/>
            <a:ext cx="4416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기준   S 90점 이상 · A 75~89점 · B 60~74점 · C 60점 미만   →   본 매물 A등급(양호)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457200" y="652881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가치점수 분석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3657600" y="652881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보고서는 빌탐정의 자체 조사·분석을 기반으로 작성되었으며, 실제 거래 시 시세 변동 및 개별 조건에 따라 차이가 발생할 수 있습니다.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10515600" y="65288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 </a:t>
            </a:r>
            <a:pPr algn="r" indent="0" marL="0">
              <a:buNone/>
            </a:pPr>
            <a:r>
              <a:rPr lang="en-US" sz="85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BILLTAMJUNG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</a:t>
            </a:r>
            <a:pPr indent="0" marL="0">
              <a:buNone/>
            </a:pPr>
            <a:r>
              <a:rPr lang="en-US" sz="90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BILLTAMJUNG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|   신뢰할 수 있는 부동산 가치분석 파트너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589520" y="1645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 No.  </a:t>
            </a:r>
            <a:pPr algn="r" indent="0" marL="0">
              <a:buNone/>
            </a:pPr>
            <a:r>
              <a:rPr lang="en-US" sz="9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BT-2026-000104</a:t>
            </a:r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분석일  2026.06.28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6583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매매사례 시세분석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07008" y="11155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역삼동 735-29 인근의 유사 거래사례를 분석하여 연면적당 평단가를 산정하고, 이를 기반으로 적정매매가를 도출하였습니다.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7455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651760"/>
                <a:gridCol w="777240"/>
                <a:gridCol w="1234440"/>
                <a:gridCol w="1325880"/>
                <a:gridCol w="1234440"/>
                <a:gridCol w="1554480"/>
                <a:gridCol w="1170432"/>
                <a:gridCol w="7772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매매가(억원)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연면적(평)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평단가(만원/평)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가치점수 차이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시점 보정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 강남구 역삼동 737-11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120m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2024.04.12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115.0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214.67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5,355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+6%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 강남구 역삼동 733-17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180m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2024.02.28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198.35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4,939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+1.2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+6%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 강남구 역삼동 731-20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210m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2023.12.18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92.0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187.65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4,905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+9%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 강남구 역삼동 730-8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250m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2023.10.26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106.0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213.12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4,977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+9%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 강남구 역삼동 740-5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320m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2023.08.30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89.0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182.40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4,879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+1.5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+9%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 강남구 역삼동 729-3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380m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2023.06.15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77.0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160.33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4,804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+1.7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+9%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 강남구 역삼동 742-9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420m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2022.08.05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73.0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154.80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4,712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+2.0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Chart 0" descr=""/>
          <p:cNvGraphicFramePr/>
          <p:nvPr/>
        </p:nvGraphicFramePr>
        <p:xfrm>
          <a:off x="457200" y="4069080"/>
          <a:ext cx="60350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/>
          <p:nvPr/>
        </p:nvSpPr>
        <p:spPr>
          <a:xfrm>
            <a:off x="6858000" y="40690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적정매매가 산정 요약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858000" y="4434840"/>
            <a:ext cx="1481328" cy="868680"/>
          </a:xfrm>
          <a:prstGeom prst="roundRect">
            <a:avLst>
              <a:gd name="adj" fmla="val 7368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912864" y="45079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유사사례 가중평균 평단가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6894576" y="4846320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4,548 만원/평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8339328" y="4617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8613648" y="4434840"/>
            <a:ext cx="1481328" cy="868680"/>
          </a:xfrm>
          <a:prstGeom prst="roundRect">
            <a:avLst>
              <a:gd name="adj" fmla="val 7368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8668512" y="45079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매물 연면적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8650224" y="4846320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222.39 평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10094976" y="4617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10369296" y="4434840"/>
            <a:ext cx="1481328" cy="868680"/>
          </a:xfrm>
          <a:prstGeom prst="roundRect">
            <a:avLst>
              <a:gd name="adj" fmla="val 7368"/>
            </a:avLst>
          </a:prstGeom>
          <a:solidFill>
            <a:srgbClr val="FFF6EC"/>
          </a:solidFill>
          <a:ln w="15875">
            <a:solidFill>
              <a:srgbClr val="EE7D22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10424160" y="45079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 적정매매가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10405872" y="4846320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101억 원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858000" y="53949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유사사례 가치점수 차이에 따른 가중치 부여 후 산정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6858000" y="5669280"/>
            <a:ext cx="4873752" cy="685800"/>
          </a:xfrm>
          <a:prstGeom prst="roundRect">
            <a:avLst>
              <a:gd name="adj" fmla="val 9333"/>
            </a:avLst>
          </a:prstGeom>
          <a:solidFill>
            <a:srgbClr val="FFF6EC"/>
          </a:solidFill>
          <a:ln w="15875">
            <a:solidFill>
              <a:srgbClr val="EE7D22"/>
            </a:solidFill>
            <a:prstDash val="solid"/>
          </a:ln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7059168" y="566928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호가 110억 대비 </a:t>
            </a:r>
            <a:pPr indent="0" marL="0">
              <a:buNone/>
            </a:pPr>
            <a:r>
              <a:rPr lang="en-US" sz="110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9억 협의 필요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(호가 대비 약 8.2% 하향 협의 여지)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26" name="Text 22"/>
          <p:cNvSpPr/>
          <p:nvPr/>
        </p:nvSpPr>
        <p:spPr>
          <a:xfrm>
            <a:off x="457200" y="652881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매매사례 시세분석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3657600" y="652881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보고서는 빌탐정의 자체 조사·분석을 기반으로 작성되었으며, 실제 거래 시 시세 변동 및 개별 조건에 따라 차이가 발생할 수 있습니다.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10515600" y="65288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 </a:t>
            </a:r>
            <a:pPr algn="r" indent="0" marL="0">
              <a:buNone/>
            </a:pPr>
            <a:r>
              <a:rPr lang="en-US" sz="85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BILLTAMJUNG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</a:t>
            </a:r>
            <a:pPr indent="0" marL="0">
              <a:buNone/>
            </a:pPr>
            <a:r>
              <a:rPr lang="en-US" sz="90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BILLTAMJUNG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|   신뢰할 수 있는 부동산 가치분석 파트너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589520" y="1645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 No.  </a:t>
            </a:r>
            <a:pPr algn="r" indent="0" marL="0">
              <a:buNone/>
            </a:pPr>
            <a:r>
              <a:rPr lang="en-US" sz="9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BT-2026-000104</a:t>
            </a:r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분석일  2026.06.28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6583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주변월세시세 분석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07008" y="11155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먼저 확인하는 브리핑형 임대시세 분석 — 반경 500m 내 유사 임대광고 사례(층별 5건 내외) 기준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36576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58368" y="17556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총월세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2011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1,490</a:t>
            </a:r>
            <a:pPr indent="0" marL="0">
              <a:buNone/>
            </a:pPr>
            <a:r>
              <a:rPr lang="en-US" sz="1100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만원</a:t>
            </a:r>
            <a:pPr indent="0" marL="0">
              <a:buNone/>
            </a:pP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270248" y="1645920"/>
            <a:ext cx="36576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1E2B5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471416" y="17556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주변월세시세 적용 총월세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71416" y="2011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1,643</a:t>
            </a:r>
            <a:pPr indent="0" marL="0">
              <a:buNone/>
            </a:pPr>
            <a:r>
              <a:rPr lang="en-US" sz="1100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만원</a:t>
            </a:r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연임대료 추정치 1억 9,716만원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083296" y="1645920"/>
            <a:ext cx="36576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84464" y="17556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84464" y="2011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+153</a:t>
            </a:r>
            <a:pPr indent="0" marL="0">
              <a:buNone/>
            </a:pPr>
            <a:r>
              <a:rPr lang="en-US" sz="1100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만원</a:t>
            </a:r>
            <a:pPr indent="0" marL="0">
              <a:buNone/>
            </a:pP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53949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97280"/>
                <a:gridCol w="1280160"/>
                <a:gridCol w="1097280"/>
                <a:gridCol w="100584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층수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월세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주변월세시세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참고사례수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지하1층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180만원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190만원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5A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+10만원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480만원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530만원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5A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+50만원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250만원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270만원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5A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+20만원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210만원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225만원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5A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+15만원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190만원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205만원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5A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+15만원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180만원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223만원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5A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+43만원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1,490만원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1,643만원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5A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+153만원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Chart 0" descr=""/>
          <p:cNvGraphicFramePr/>
          <p:nvPr/>
        </p:nvGraphicFramePr>
        <p:xfrm>
          <a:off x="6172200" y="2788920"/>
          <a:ext cx="55778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5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457200" y="652881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주변월세시세 분석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3657600" y="652881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보고서는 빌탐정의 자체 조사·분석을 기반으로 작성되었으며, 실제 거래 시 시세 변동 및 개별 조건에 따라 차이가 발생할 수 있습니다.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10515600" y="65288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 </a:t>
            </a:r>
            <a:pPr algn="r" indent="0" marL="0">
              <a:buNone/>
            </a:pPr>
            <a:r>
              <a:rPr lang="en-US" sz="85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BILLTAMJUNG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</a:t>
            </a:r>
            <a:pPr indent="0" marL="0">
              <a:buNone/>
            </a:pPr>
            <a:r>
              <a:rPr lang="en-US" sz="90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BILLTAMJUNG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|   신뢰할 수 있는 부동산 가치분석 파트너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589520" y="1645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 No.  </a:t>
            </a:r>
            <a:pPr algn="r" indent="0" marL="0">
              <a:buNone/>
            </a:pPr>
            <a:r>
              <a:rPr lang="en-US" sz="9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BT-2026-000104</a:t>
            </a:r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분석일  2026.06.28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6583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예상수익률 분석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07008" y="11155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적정매매가 기준 수익성 브리핑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2743200" cy="914400"/>
          </a:xfrm>
          <a:prstGeom prst="roundRect">
            <a:avLst>
              <a:gd name="adj" fmla="val 7000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755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예상보증금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9.0</a:t>
            </a:r>
            <a:pPr indent="0" marL="0">
              <a:buNone/>
            </a:pPr>
            <a:r>
              <a:rPr lang="en-US" sz="1000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억원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00984" y="1645920"/>
            <a:ext cx="2743200" cy="914400"/>
          </a:xfrm>
          <a:prstGeom prst="roundRect">
            <a:avLst>
              <a:gd name="adj" fmla="val 7000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483864" y="1755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예상월임대료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83864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1,643</a:t>
            </a:r>
            <a:pPr indent="0" marL="0">
              <a:buNone/>
            </a:pPr>
            <a:r>
              <a:rPr lang="en-US" sz="1000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만원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44768" y="1645920"/>
            <a:ext cx="2743200" cy="914400"/>
          </a:xfrm>
          <a:prstGeom prst="roundRect">
            <a:avLst>
              <a:gd name="adj" fmla="val 7000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327648" y="1755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연임대수익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27648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1억 9,716</a:t>
            </a:r>
            <a:pPr indent="0" marL="0">
              <a:buNone/>
            </a:pPr>
            <a:r>
              <a:rPr lang="en-US" sz="1000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만원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988552" y="1645920"/>
            <a:ext cx="2743200" cy="914400"/>
          </a:xfrm>
          <a:prstGeom prst="roundRect">
            <a:avLst>
              <a:gd name="adj" fmla="val 7000"/>
            </a:avLst>
          </a:prstGeom>
          <a:solidFill>
            <a:srgbClr val="FFF6EC"/>
          </a:solidFill>
          <a:ln w="15875">
            <a:solidFill>
              <a:srgbClr val="EE7D2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71432" y="1755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적정매매가 기준 예상수익률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71432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1.95</a:t>
            </a:r>
            <a:pPr indent="0" marL="0">
              <a:buNone/>
            </a:pPr>
            <a:r>
              <a:rPr lang="en-US" sz="1000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00" y="2834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협의가 수익률에 미치는 영향 비교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6400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514600"/>
                <a:gridCol w="25146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매도희망가 기준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빌탐정 적정매매가 기준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AF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매매가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110억 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5A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101억 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예상수익률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1.79%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5A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1.95%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적정매매가 기준 접근 시 수익률 개선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51663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예상수익률 계산 로직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" y="5504688"/>
            <a:ext cx="1115568" cy="731520"/>
          </a:xfrm>
          <a:prstGeom prst="roundRect">
            <a:avLst>
              <a:gd name="adj" fmla="val 8750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484632" y="5577840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총월세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484632" y="5833872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1,643만원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1572768" y="566928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1828800" y="5504688"/>
            <a:ext cx="1115568" cy="731520"/>
          </a:xfrm>
          <a:prstGeom prst="roundRect">
            <a:avLst>
              <a:gd name="adj" fmla="val 8750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856232" y="5577840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개월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856232" y="5833872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12개월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2944368" y="566928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3200400" y="5504688"/>
            <a:ext cx="1115568" cy="731520"/>
          </a:xfrm>
          <a:prstGeom prst="roundRect">
            <a:avLst>
              <a:gd name="adj" fmla="val 8750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3227832" y="5577840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연임대수익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3227832" y="5833872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1억 9,716만원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315968" y="566928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÷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572000" y="5504688"/>
            <a:ext cx="1115568" cy="731520"/>
          </a:xfrm>
          <a:prstGeom prst="roundRect">
            <a:avLst>
              <a:gd name="adj" fmla="val 8750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4599432" y="5577840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적정매매가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4599432" y="5833872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101억 원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5687568" y="566928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5943600" y="5504688"/>
            <a:ext cx="1115568" cy="731520"/>
          </a:xfrm>
          <a:prstGeom prst="roundRect">
            <a:avLst>
              <a:gd name="adj" fmla="val 8750"/>
            </a:avLst>
          </a:prstGeom>
          <a:solidFill>
            <a:srgbClr val="FFF6EC"/>
          </a:solidFill>
          <a:ln w="15875">
            <a:solidFill>
              <a:srgbClr val="EE7D22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5971032" y="5577840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예상수익률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5971032" y="5833872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1.95%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7315200" y="2834640"/>
            <a:ext cx="4416552" cy="1920240"/>
          </a:xfrm>
          <a:prstGeom prst="roundRect">
            <a:avLst>
              <a:gd name="adj" fmla="val 3333"/>
            </a:avLst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7543800" y="29718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이렇게 분석되었나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7589520" y="329184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DDE3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주변월세시세 적용 총월세 1,643만원 기준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DDE3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예상보증금 9.0억 원 반영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DDE3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적정매매가 101억 원 기준 단순 연임대수익 산정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DDE3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호가 대비 적정가 매수 시 수익률 개선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7315200" y="5029200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로직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7315200" y="5349240"/>
            <a:ext cx="4416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주변월세시세 분석 결과 반영 → ② 본 매물 적용 총월세 산정 → ③ 예상 연임대수익 계산 → ④ 적정매매가 기준 반영 → ⑤ 예상수익률 산정 → ⑥ 가격 협의 필요성 판단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457200" y="652881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 예상수익률 분석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3657600" y="652881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보고서는 빌탐정의 자체 조사·분석을 기반으로 작성되었으며, 실제 거래 시 시세 변동 및 개별 조건에 따라 차이가 발생할 수 있습니다.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10515600" y="65288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 </a:t>
            </a:r>
            <a:pPr algn="r" indent="0" marL="0">
              <a:buNone/>
            </a:pPr>
            <a:r>
              <a:rPr lang="en-US" sz="85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BILLTAMJUNG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</a:t>
            </a:r>
            <a:pPr indent="0" marL="0">
              <a:buNone/>
            </a:pPr>
            <a:r>
              <a:rPr lang="en-US" sz="90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BILLTAMJUNG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|   신뢰할 수 있는 부동산 가치분석 파트너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589520" y="1645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 No.  </a:t>
            </a:r>
            <a:pPr algn="r" indent="0" marL="0">
              <a:buNone/>
            </a:pPr>
            <a:r>
              <a:rPr lang="en-US" sz="9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BT-2026-000104</a:t>
            </a:r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분석일  2026.06.28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6583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분석 요약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07008" y="11155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적정매매가 및 수익성 종합 결론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352044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5875">
            <a:solidFill>
              <a:srgbClr val="1E2B5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58368" y="17556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매도희망가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20116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매도인 제시 가격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368" y="22402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</a:t>
            </a:r>
            <a:pPr indent="0" marL="0">
              <a:buNone/>
            </a:pPr>
            <a:r>
              <a:rPr lang="en-US" sz="1100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억원</a:t>
            </a:r>
            <a:pPr indent="0" marL="0">
              <a:buNone/>
            </a:pP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977640" y="20574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15968" y="1645920"/>
            <a:ext cx="352044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5875">
            <a:solidFill>
              <a:srgbClr val="1E2B5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17136" y="17556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 적정매매가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17136" y="20116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시장분석 기반 추정 가치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17136" y="22402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101</a:t>
            </a:r>
            <a:pPr indent="0" marL="0">
              <a:buNone/>
            </a:pPr>
            <a:r>
              <a:rPr lang="en-US" sz="1100" dirty="0">
                <a:solidFill>
                  <a:srgbClr val="1E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억원</a:t>
            </a:r>
            <a:pPr indent="0" marL="0">
              <a:buNone/>
            </a:pP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836408" y="20574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74736" y="1645920"/>
            <a:ext cx="3520440" cy="1143000"/>
          </a:xfrm>
          <a:prstGeom prst="roundRect">
            <a:avLst>
              <a:gd name="adj" fmla="val 5600"/>
            </a:avLst>
          </a:prstGeom>
          <a:solidFill>
            <a:srgbClr val="FFF6EC"/>
          </a:solidFill>
          <a:ln w="15875">
            <a:solidFill>
              <a:srgbClr val="EE7D2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375904" y="17556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협의 필요금액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75904" y="20116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매도희망가 − 적정매매가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375904" y="22402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pPr indent="0" marL="0">
              <a:buNone/>
            </a:pPr>
            <a:r>
              <a:rPr lang="en-US" sz="1100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억원</a:t>
            </a:r>
            <a:pPr indent="0" marL="0">
              <a:buNone/>
            </a:pPr>
            <a:r>
              <a:rPr lang="en-US" sz="90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가격 협의 필요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5532120" cy="1828800"/>
          </a:xfrm>
          <a:prstGeom prst="roundRect">
            <a:avLst>
              <a:gd name="adj" fmla="val 3500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85800" y="3200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분석 결론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77240" y="352044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 매매사례 분석 결과, 본 매물의 적정매매가는 약 101억 원 수준입니다.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매도희망가 110억 원은 적정가 대비 약 9억 원 높은 수준입니다.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매수 검토 시 101억 원 내외를 기준으로 가격 협의가 필요합니다.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주변월세시세 적용 총월세는 1,643만원, 적정가 기준 예상수익률은 1.95%입니다.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99632" y="3063240"/>
            <a:ext cx="5532120" cy="1828800"/>
          </a:xfrm>
          <a:prstGeom prst="roundRect">
            <a:avLst>
              <a:gd name="adj" fmla="val 3500"/>
            </a:avLst>
          </a:prstGeom>
          <a:solidFill>
            <a:srgbClr val="FFF6EC"/>
          </a:solidFill>
          <a:ln w="15875">
            <a:solidFill>
              <a:srgbClr val="EE7D2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28232" y="3200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매수 검토 포인트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9672" y="352044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5A3A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적정매매가 기준 접근 필요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5A3A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호가 기준 수익률 제한 (1.79%)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5A3A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주변월세시세 적용 시 수익성 개선 가능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5A3A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협의 여부가 투자 판단의 핵심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5074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수치 요약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5440680"/>
            <a:ext cx="2743200" cy="777240"/>
          </a:xfrm>
          <a:prstGeom prst="roundRect">
            <a:avLst>
              <a:gd name="adj" fmla="val 8235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40080" y="5532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예상보증금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40080" y="5779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9.0 억원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300984" y="5440680"/>
            <a:ext cx="2743200" cy="777240"/>
          </a:xfrm>
          <a:prstGeom prst="roundRect">
            <a:avLst>
              <a:gd name="adj" fmla="val 8235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483864" y="5532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예상월임대료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483864" y="5779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1,643 만원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144768" y="5440680"/>
            <a:ext cx="2743200" cy="777240"/>
          </a:xfrm>
          <a:prstGeom prst="roundRect">
            <a:avLst>
              <a:gd name="adj" fmla="val 8235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327648" y="5532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연임대수익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327648" y="5779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1억 9,716 만원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988552" y="5440680"/>
            <a:ext cx="2743200" cy="777240"/>
          </a:xfrm>
          <a:prstGeom prst="roundRect">
            <a:avLst>
              <a:gd name="adj" fmla="val 8235"/>
            </a:avLst>
          </a:prstGeom>
          <a:solidFill>
            <a:srgbClr val="FFF6EC"/>
          </a:solidFill>
          <a:ln w="15875">
            <a:solidFill>
              <a:srgbClr val="EE7D22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9171432" y="5532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적정매매가 기준 예상수익률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171432" y="5779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1.95 %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57200" y="652881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 최종 분석 요약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657600" y="652881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보고서는 빌탐정의 자체 조사·분석을 기반으로 작성되었으며, 실제 거래 시 시세 변동 및 개별 조건에 따라 차이가 발생할 수 있습니다.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0515600" y="65288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 </a:t>
            </a:r>
            <a:pPr algn="r" indent="0" marL="0">
              <a:buNone/>
            </a:pPr>
            <a:r>
              <a:rPr lang="en-US" sz="85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BILLTAMJUNG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2026-07-17T04:41:10Z</dcterms:created>
  <dcterms:modified xsi:type="dcterms:W3CDTF">2026-07-17T04:41:10Z</dcterms:modified>
</cp:coreProperties>
</file>