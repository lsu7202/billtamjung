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61" r:id="rId6"/>
  </p:sldIdLst>
  <p:sldSz cx="9144000" cy="6327775"/>
  <p:notesSz cx="6327775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19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744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static/assets/cover_fix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6327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ln w="9525">
                  <a:solidFill>
                    <a:srgbClr val="FFFFFF"/>
                  </a:solidFill>
                </a:ln>
                <a:solidFill>
                  <a:srgbClr val="006EC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The 두꺼비 부동산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486400" y="506211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담당자: 이사 김정돈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연락처 : 010-2639-6946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팩스 : 0504-425-1151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이메일 : donjuang100@naver.com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주소 : 서울시 천호대로 111길 20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320040"/>
            <a:ext cx="6858000" cy="0"/>
          </a:xfrm>
          <a:prstGeom prst="rect">
            <a:avLst/>
          </a:prstGeom>
          <a:noFill/>
          <a:ln/>
          <a:effectLst>
            <a:outerShdw blurRad="76200" dist="762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800" dirty="0" smtClean="0">
                <a:solidFill>
                  <a:srgbClr val="333333"/>
                </a:solidFill>
              </a:rPr>
              <a:t>건 물 개 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594360"/>
            <a:ext cx="8778240" cy="27432"/>
          </a:xfrm>
          <a:prstGeom prst="rect">
            <a:avLst/>
          </a:prstGeom>
          <a:solidFill>
            <a:srgbClr val="006EC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76656"/>
            <a:ext cx="3429000" cy="5413248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907510"/>
              </p:ext>
            </p:extLst>
          </p:nvPr>
        </p:nvGraphicFramePr>
        <p:xfrm>
          <a:off x="3712464" y="685800"/>
          <a:ext cx="5248655" cy="3444240"/>
        </p:xfrm>
        <a:graphic>
          <a:graphicData uri="http://schemas.openxmlformats.org/drawingml/2006/table">
            <a:tbl>
              <a:tblPr/>
              <a:tblGrid>
                <a:gridCol w="1049731"/>
                <a:gridCol w="1049731"/>
                <a:gridCol w="1049731"/>
                <a:gridCol w="1049731"/>
                <a:gridCol w="1049731"/>
              </a:tblGrid>
              <a:tr h="179070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소재지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주소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서울특별시 동작구 노량진동 54-8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도로상황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전면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25m /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측면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5m /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후면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4m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7907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토지정보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대지면적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248.00m²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75.02평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용도지역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일반상업지역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공시지가(m²)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15,450,000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합계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3,831,600,000원</a:t>
                      </a:r>
                      <a:endParaRPr lang="en-US" sz="9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row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건물정보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연면적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877.62m²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265.48평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건축면적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128.54m²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38.88평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건폐율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55.65%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용적률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294.9%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규모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B1 ~ 6F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주차대수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0대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준공년도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2004/01/15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승강기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1대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금융정보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EC3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매매가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smtClean="0">
                          <a:solidFill>
                            <a:srgbClr val="FF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140</a:t>
                      </a:r>
                      <a:r>
                        <a:rPr lang="en-US" sz="1400" b="1" baseline="0" dirty="0" smtClean="0">
                          <a:solidFill>
                            <a:srgbClr val="FF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 </a:t>
                      </a:r>
                      <a:r>
                        <a:rPr lang="en-US" sz="1400" b="1" dirty="0" smtClean="0">
                          <a:solidFill>
                            <a:srgbClr val="FF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억</a:t>
                      </a:r>
                      <a:endParaRPr lang="en-US" sz="14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6EC3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수익률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smtClean="0">
                          <a:solidFill>
                            <a:srgbClr val="FF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3.56%</a:t>
                      </a:r>
                      <a:endParaRPr lang="en-US" sz="14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평단가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18,661만원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평단가(연면적당)</a:t>
                      </a:r>
                      <a:endParaRPr lang="en-US" sz="8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5,273만원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보증금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50,000 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임대료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4,000 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gridSpan="5"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* 토지이용계획확인원 및 건축물대장 기준 작성</a:t>
                      </a:r>
                      <a:endParaRPr lang="en-US" sz="8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7" name="Text 3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  <p:sp>
        <p:nvSpPr>
          <p:cNvPr id="8" name="직사각형 7"/>
          <p:cNvSpPr/>
          <p:nvPr/>
        </p:nvSpPr>
        <p:spPr>
          <a:xfrm>
            <a:off x="3611880" y="4130040"/>
            <a:ext cx="61950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◆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노량진역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(1,9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호선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400" dirty="0" smtClean="0"/>
              <a:t>도보 </a:t>
            </a:r>
            <a:r>
              <a:rPr lang="en-US" altLang="ko-KR" sz="1400" dirty="0" smtClean="0"/>
              <a:t>1</a:t>
            </a:r>
            <a:r>
              <a:rPr lang="ko-KR" altLang="en-US" sz="1400" dirty="0" smtClean="0"/>
              <a:t>분 거리 </a:t>
            </a:r>
            <a:r>
              <a:rPr lang="ko-KR" altLang="en-US" sz="1400" b="1" dirty="0">
                <a:solidFill>
                  <a:srgbClr val="FF0000"/>
                </a:solidFill>
              </a:rPr>
              <a:t>대로변 코너 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입지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◆ </a:t>
            </a:r>
            <a:r>
              <a:rPr lang="ko-KR" altLang="en-US" sz="1400" b="1" dirty="0">
                <a:solidFill>
                  <a:srgbClr val="FF0000"/>
                </a:solidFill>
              </a:rPr>
              <a:t>일반상업지역</a:t>
            </a:r>
            <a:r>
              <a:rPr lang="ko-KR" altLang="en-US" sz="1400" dirty="0"/>
              <a:t>으로 </a:t>
            </a:r>
            <a:r>
              <a:rPr lang="ko-KR" altLang="en-US" sz="1400" dirty="0" smtClean="0"/>
              <a:t>신축</a:t>
            </a:r>
            <a:r>
              <a:rPr lang="en-US" altLang="ko-KR" sz="1400" dirty="0" smtClean="0"/>
              <a:t>·</a:t>
            </a:r>
            <a:r>
              <a:rPr lang="ko-KR" altLang="en-US" sz="1400" dirty="0" err="1"/>
              <a:t>리모델링</a:t>
            </a:r>
            <a:r>
              <a:rPr lang="en-US" altLang="ko-KR" sz="1400" dirty="0"/>
              <a:t>·</a:t>
            </a:r>
            <a:r>
              <a:rPr lang="ko-KR" altLang="en-US" sz="1400" dirty="0"/>
              <a:t>중장기 </a:t>
            </a:r>
            <a:r>
              <a:rPr lang="ko-KR" altLang="en-US" sz="1400" dirty="0" err="1"/>
              <a:t>활용성</a:t>
            </a:r>
            <a:r>
              <a:rPr lang="ko-KR" altLang="en-US" sz="1400" dirty="0"/>
              <a:t> 높은 상업용 토지 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◆ </a:t>
            </a:r>
            <a:r>
              <a:rPr lang="ko-KR" altLang="en-US" sz="1400" b="1" dirty="0" err="1">
                <a:solidFill>
                  <a:srgbClr val="FF0000"/>
                </a:solidFill>
              </a:rPr>
              <a:t>노량진뉴타운</a:t>
            </a:r>
            <a:r>
              <a:rPr lang="ko-KR" altLang="en-US" sz="1400" b="1" dirty="0">
                <a:solidFill>
                  <a:srgbClr val="FF0000"/>
                </a:solidFill>
              </a:rPr>
              <a:t> 재개발 및 </a:t>
            </a:r>
            <a:r>
              <a:rPr lang="ko-KR" altLang="en-US" sz="1400" b="1" dirty="0" err="1">
                <a:solidFill>
                  <a:srgbClr val="FF0000"/>
                </a:solidFill>
              </a:rPr>
              <a:t>노량진역</a:t>
            </a:r>
            <a:r>
              <a:rPr lang="ko-KR" altLang="en-US" sz="1400" b="1" dirty="0">
                <a:solidFill>
                  <a:srgbClr val="FF0000"/>
                </a:solidFill>
              </a:rPr>
              <a:t> 일대 복합개발 </a:t>
            </a:r>
            <a:r>
              <a:rPr lang="ko-KR" altLang="en-US" sz="1400" dirty="0"/>
              <a:t>기대감 보유 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◆ </a:t>
            </a:r>
            <a:r>
              <a:rPr lang="ko-KR" altLang="en-US" sz="1400" dirty="0"/>
              <a:t>개발호재 영향으로 주변 </a:t>
            </a:r>
            <a:r>
              <a:rPr lang="ko-KR" altLang="en-US" sz="1400" b="1" dirty="0">
                <a:solidFill>
                  <a:srgbClr val="FF0000"/>
                </a:solidFill>
              </a:rPr>
              <a:t>상업용 건물 거래가 활발했던 핵심 </a:t>
            </a:r>
            <a:r>
              <a:rPr lang="ko-KR" altLang="en-US" sz="1400" b="1" dirty="0" err="1" smtClean="0">
                <a:solidFill>
                  <a:srgbClr val="FF0000"/>
                </a:solidFill>
              </a:rPr>
              <a:t>수혜권</a:t>
            </a:r>
            <a:endParaRPr lang="en-US" altLang="ko-KR" sz="1400" b="1" dirty="0" smtClean="0">
              <a:solidFill>
                <a:srgbClr val="FF0000"/>
              </a:solidFill>
            </a:endParaRPr>
          </a:p>
          <a:p>
            <a:r>
              <a:rPr lang="ko-KR" altLang="en-US" sz="1400" dirty="0" smtClean="0"/>
              <a:t> </a:t>
            </a:r>
            <a:endParaRPr lang="en-US" altLang="ko-KR" sz="1400" dirty="0" smtClean="0"/>
          </a:p>
          <a:p>
            <a:r>
              <a:rPr lang="ko-KR" altLang="en-US" sz="1400" dirty="0" smtClean="0"/>
              <a:t>◆ </a:t>
            </a:r>
            <a:r>
              <a:rPr lang="ko-KR" altLang="en-US" sz="1400" dirty="0"/>
              <a:t>지하 </a:t>
            </a:r>
            <a:r>
              <a:rPr lang="en-US" altLang="ko-KR" sz="1400" dirty="0"/>
              <a:t>1</a:t>
            </a:r>
            <a:r>
              <a:rPr lang="ko-KR" altLang="en-US" sz="1400" dirty="0"/>
              <a:t>층이 </a:t>
            </a:r>
            <a:r>
              <a:rPr lang="ko-KR" altLang="en-US" sz="1400" dirty="0" smtClean="0"/>
              <a:t>실질적인 </a:t>
            </a:r>
            <a:r>
              <a:rPr lang="en-US" altLang="ko-KR" sz="1400" dirty="0"/>
              <a:t>1</a:t>
            </a:r>
            <a:r>
              <a:rPr lang="ko-KR" altLang="en-US" sz="1400" dirty="0" smtClean="0"/>
              <a:t>층으로 활용 가능</a:t>
            </a:r>
            <a:r>
              <a:rPr lang="en-US" altLang="ko-KR" sz="1400" dirty="0" smtClean="0"/>
              <a:t>(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지상 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7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층</a:t>
            </a:r>
            <a:r>
              <a:rPr lang="ko-KR" altLang="en-US" sz="1400" dirty="0" smtClean="0"/>
              <a:t>으로 </a:t>
            </a:r>
            <a:r>
              <a:rPr lang="ko-KR" altLang="en-US" sz="1400" dirty="0" err="1" smtClean="0"/>
              <a:t>활용중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712464" y="135374"/>
            <a:ext cx="5367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***</a:t>
            </a:r>
            <a:r>
              <a:rPr lang="ko-KR" altLang="en-US" dirty="0" smtClean="0"/>
              <a:t>본 매물은 </a:t>
            </a:r>
            <a:r>
              <a:rPr lang="en-US" altLang="ko-KR" dirty="0" smtClean="0"/>
              <a:t>The</a:t>
            </a:r>
            <a:r>
              <a:rPr lang="ko-KR" altLang="en-US" dirty="0" smtClean="0"/>
              <a:t>두꺼비부동산 </a:t>
            </a:r>
            <a:r>
              <a:rPr lang="ko-KR" altLang="en-US" b="1" dirty="0" smtClean="0">
                <a:solidFill>
                  <a:srgbClr val="FF0000"/>
                </a:solidFill>
              </a:rPr>
              <a:t>전속매물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.***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1" y="676656"/>
            <a:ext cx="3429000" cy="54170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8778240" cy="27432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320040"/>
            <a:ext cx="6858000" cy="0"/>
          </a:xfrm>
          <a:prstGeom prst="rect">
            <a:avLst/>
          </a:prstGeom>
          <a:noFill/>
          <a:ln/>
          <a:effectLst>
            <a:outerShdw blurRad="76200" dist="762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2800" dirty="0" smtClean="0">
                <a:solidFill>
                  <a:srgbClr val="333333"/>
                </a:solidFill>
                <a:latin typeface="맑은고딕" pitchFamily="34" charset="0"/>
              </a:rPr>
              <a:t>위 치 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694944"/>
            <a:ext cx="4352544" cy="5404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94944"/>
            <a:ext cx="4352544" cy="5404104"/>
          </a:xfrm>
          <a:prstGeom prst="rect">
            <a:avLst/>
          </a:prstGeom>
          <a:ln w="19050">
            <a:solidFill>
              <a:srgbClr val="006EC3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694944"/>
            <a:ext cx="4352544" cy="54041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81144" y="694944"/>
            <a:ext cx="4352544" cy="5404104"/>
          </a:xfrm>
          <a:prstGeom prst="rect">
            <a:avLst/>
          </a:prstGeom>
          <a:ln w="19050">
            <a:solidFill>
              <a:srgbClr val="006EC3"/>
            </a:solidFill>
            <a:prstDash val="solid"/>
          </a:ln>
        </p:spPr>
      </p:sp>
      <p:sp>
        <p:nvSpPr>
          <p:cNvPr id="10" name="직사각형 9"/>
          <p:cNvSpPr/>
          <p:nvPr/>
        </p:nvSpPr>
        <p:spPr>
          <a:xfrm>
            <a:off x="3497580" y="151876"/>
            <a:ext cx="6111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***</a:t>
            </a:r>
            <a:r>
              <a:rPr lang="ko-KR" altLang="en-US" dirty="0"/>
              <a:t>본 매물은 </a:t>
            </a:r>
            <a:r>
              <a:rPr lang="en-US" altLang="ko-KR" dirty="0"/>
              <a:t>The</a:t>
            </a:r>
            <a:r>
              <a:rPr lang="ko-KR" altLang="en-US" dirty="0"/>
              <a:t>두꺼비부동산 </a:t>
            </a:r>
            <a:r>
              <a:rPr lang="ko-KR" altLang="en-US" b="1" dirty="0">
                <a:solidFill>
                  <a:srgbClr val="FF0000"/>
                </a:solidFill>
              </a:rPr>
              <a:t>전속매물</a:t>
            </a:r>
            <a:r>
              <a:rPr lang="ko-KR" altLang="en-US" dirty="0"/>
              <a:t>입니다</a:t>
            </a:r>
            <a:r>
              <a:rPr lang="en-US" altLang="ko-KR" dirty="0"/>
              <a:t>.***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201168"/>
            <a:ext cx="640080" cy="0"/>
          </a:xfrm>
          <a:prstGeom prst="rect">
            <a:avLst/>
          </a:prstGeom>
          <a:noFill/>
          <a:ln/>
          <a:effectLst>
            <a:outerShdw blurRad="76200" dist="762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ko-KR" altLang="en-US" sz="2800" dirty="0" smtClean="0">
                <a:solidFill>
                  <a:srgbClr val="333333"/>
                </a:solidFill>
                <a:latin typeface="맑은고딕" pitchFamily="34" charset="0"/>
              </a:rPr>
              <a:t>건 축 물 정 보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"/>
            <a:ext cx="3840480" cy="5934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0" y="201168"/>
            <a:ext cx="640080" cy="0"/>
          </a:xfrm>
          <a:prstGeom prst="rect">
            <a:avLst/>
          </a:prstGeom>
          <a:noFill/>
          <a:ln/>
          <a:effectLst>
            <a:outerShdw blurRad="76200" dist="762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ko-KR" altLang="en-US" sz="2800" dirty="0" smtClean="0">
                <a:solidFill>
                  <a:srgbClr val="333333"/>
                </a:solidFill>
                <a:latin typeface="맑은고딕" pitchFamily="34" charset="0"/>
              </a:rPr>
              <a:t>토 지 이 용 계 획</a:t>
            </a:r>
            <a:endParaRPr lang="en-US" sz="2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128016"/>
            <a:ext cx="3840480" cy="5934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static/assets/cover_fixed_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6327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40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ln w="9525">
                  <a:solidFill>
                    <a:srgbClr val="FFFFFF"/>
                  </a:solidFill>
                </a:ln>
                <a:solidFill>
                  <a:srgbClr val="006EC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성공적인 투자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0" y="5694883"/>
            <a:ext cx="9144000" cy="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5200" b="1" dirty="0">
                <a:ln w="9525">
                  <a:solidFill>
                    <a:srgbClr val="FFFFFF"/>
                  </a:solidFill>
                </a:ln>
                <a:solidFill>
                  <a:srgbClr val="006EC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The 두꺼비</a:t>
            </a:r>
            <a:r>
              <a:rPr lang="en-US" sz="5200" dirty="0">
                <a:ln w="9525">
                  <a:solidFill>
                    <a:srgbClr val="FFFFFF"/>
                  </a:solidFill>
                </a:ln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가 함께 하겠습니다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289</Words>
  <Application>Microsoft Office PowerPoint</Application>
  <PresentationFormat>사용자 지정</PresentationFormat>
  <Paragraphs>79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맑은고딕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계정</cp:lastModifiedBy>
  <cp:revision>9</cp:revision>
  <dcterms:created xsi:type="dcterms:W3CDTF">2026-07-21T06:33:48Z</dcterms:created>
  <dcterms:modified xsi:type="dcterms:W3CDTF">2026-07-23T05:22:16Z</dcterms:modified>
</cp:coreProperties>
</file>