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1874519"/>
            <a:ext cx="1828800" cy="402336"/>
          </a:xfrm>
          <a:prstGeom prst="rect">
            <a:avLst/>
          </a:prstGeom>
          <a:solidFill>
            <a:srgbClr val="EAF0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56816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E5AF0"/>
                </a:solidFill>
                <a:latin typeface="Malgun Gothic"/>
              </a:rPr>
              <a:t>빌탐정 브리핑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23160"/>
            <a:ext cx="9144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0F1A2E"/>
                </a:solidFill>
                <a:latin typeface="Malgun Gothic"/>
              </a:rPr>
              <a:t>역삼동 601-5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290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3A4657"/>
                </a:solidFill>
                <a:latin typeface="Malgun Gothic"/>
              </a:rPr>
              <a:t>신논현역 도보 1분 · 근린생활시설 빌딩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9144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42505F"/>
                </a:solidFill>
                <a:latin typeface="Malgun Gothic"/>
              </a:rPr>
              <a:t>탐정공인중개사사무소 · 담당 </a:t>
            </a:r>
            <a:r>
              <a:rPr sz="1300" b="1">
                <a:solidFill>
                  <a:srgbClr val="0F1A2E"/>
                </a:solidFill>
                <a:latin typeface="Malgun Gothic"/>
              </a:rPr>
              <a:t>이승욱
</a:t>
            </a:r>
            <a:r>
              <a:rPr sz="1300" b="0">
                <a:solidFill>
                  <a:srgbClr val="42505F"/>
                </a:solidFill>
                <a:latin typeface="Malgun Gothic"/>
              </a:rPr>
              <a:t>010-****-1234 · coms1768@gmail.com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528816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3AD"/>
                </a:solidFill>
                <a:latin typeface="Malgun Gothic"/>
              </a:rPr>
              <a:t>빌탐정 · BILLTAMJUNG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2375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B3BAC2"/>
                </a:solidFill>
                <a:latin typeface="Malgun Gothic"/>
              </a:rPr>
              <a:t>본 자료의 무단복제·유포·변경을 금합니다.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2375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B3BAC2"/>
                </a:solidFill>
                <a:latin typeface="Malgun Gothic"/>
              </a:rPr>
              <a:t>Report No. BT-2026-000118 · 2026.07.18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A2E"/>
                </a:solidFill>
                <a:latin typeface="Malgun Gothic"/>
              </a:rPr>
              <a:t>빌탐정 </a:t>
            </a:r>
            <a:r>
              <a:rPr sz="950" b="0">
                <a:solidFill>
                  <a:srgbClr val="3A4657"/>
                </a:solidFill>
                <a:latin typeface="Malgun Gothic"/>
              </a:rPr>
              <a:t>· 신뢰할 수 있는 부동산 파트너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1645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3A4657"/>
                </a:solidFill>
                <a:latin typeface="Malgun Gothic"/>
              </a:rPr>
              <a:t>01 · 매물 기본정보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5AF0"/>
                </a:solidFill>
                <a:latin typeface="Malgun Gothic"/>
              </a:rPr>
              <a:t>01 매물 기본정보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A2E"/>
                </a:solidFill>
                <a:latin typeface="Malgun Gothic"/>
              </a:rPr>
              <a:t>매물 기본정보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83080"/>
          <a:ext cx="54864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3832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매매가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100억 원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대지면적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71.9평 (237.8㎡)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연면적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143평 · 건축 37.8평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용도지역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제3종일반주거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건축물용도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제2종근린생활시설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규모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지하 1층 / 지상 3층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사용승인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1995.11.13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건폐율 / 용적률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52.5% / 149%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주차 / 승강기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4대 / 0대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A4657"/>
                          </a:solidFill>
                          <a:latin typeface="Malgun Gothic"/>
                        </a:rPr>
                        <a:t>총보증금 / 총월세</a:t>
                      </a:r>
                    </a:p>
                  </a:txBody>
                  <a:tcPr marL="91440" marT="27432" marB="27432"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7억 / 2,250만</a:t>
                      </a:r>
                    </a:p>
                  </a:txBody>
                  <a:tcPr marL="91440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263640" y="1783080"/>
            <a:ext cx="5394960" cy="2743200"/>
          </a:xfrm>
          <a:prstGeom prst="rect">
            <a:avLst/>
          </a:prstGeom>
          <a:solidFill>
            <a:srgbClr val="E9EEF3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3017520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A6B0BB"/>
                </a:solidFill>
                <a:latin typeface="Malgun Gothic"/>
              </a:rPr>
              <a:t>건물 사진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4663440"/>
            <a:ext cx="26060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EEF1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1" y="4754879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657"/>
                </a:solidFill>
                <a:latin typeface="Malgun Gothic"/>
              </a:rPr>
              <a:t>초역세권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8231" y="49651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A2E"/>
                </a:solidFill>
                <a:latin typeface="Malgun Gothic"/>
              </a:rPr>
              <a:t>신논현역 1분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59" y="4663440"/>
            <a:ext cx="26060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EEF1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17151" y="4754879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657"/>
                </a:solidFill>
                <a:latin typeface="Malgun Gothic"/>
              </a:rPr>
              <a:t>수익률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1" y="4965192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A2E"/>
                </a:solidFill>
                <a:latin typeface="Malgun Gothic"/>
              </a:rPr>
              <a:t>3.2% / 2.1%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5376672"/>
            <a:ext cx="26060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EEF1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28231" y="5468112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657"/>
                </a:solidFill>
                <a:latin typeface="Malgun Gothic"/>
              </a:rPr>
              <a:t>평단가(대지)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8231" y="56784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A2E"/>
                </a:solidFill>
                <a:latin typeface="Malgun Gothic"/>
              </a:rPr>
              <a:t>1.39억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59" y="5376672"/>
            <a:ext cx="2606040" cy="603504"/>
          </a:xfrm>
          <a:prstGeom prst="rect">
            <a:avLst/>
          </a:prstGeom>
          <a:solidFill>
            <a:srgbClr val="F5F8FC"/>
          </a:solidFill>
          <a:ln w="9525">
            <a:solidFill>
              <a:srgbClr val="EEF1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1" y="5468112"/>
            <a:ext cx="2286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A4657"/>
                </a:solidFill>
                <a:latin typeface="Malgun Gothic"/>
              </a:rPr>
              <a:t>유동인구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1" y="56784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A2E"/>
                </a:solidFill>
                <a:latin typeface="Malgun Gothic"/>
              </a:rPr>
              <a:t>높음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528816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3AD"/>
                </a:solidFill>
                <a:latin typeface="Malgun Gothic"/>
              </a:rPr>
              <a:t>빌탐정 · BILLTAMJUNG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2375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B3BAC2"/>
                </a:solidFill>
                <a:latin typeface="Malgun Gothic"/>
              </a:rPr>
              <a:t>본 자료의 무단복제·유포·변경을 금합니다.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A2E"/>
                </a:solidFill>
                <a:latin typeface="Malgun Gothic"/>
              </a:rPr>
              <a:t>빌탐정 </a:t>
            </a:r>
            <a:r>
              <a:rPr sz="950" b="0">
                <a:solidFill>
                  <a:srgbClr val="3A4657"/>
                </a:solidFill>
                <a:latin typeface="Malgun Gothic"/>
              </a:rPr>
              <a:t>· 신뢰할 수 있는 부동산 파트너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1645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3A4657"/>
                </a:solidFill>
                <a:latin typeface="Malgun Gothic"/>
              </a:rPr>
              <a:t>02 · 위치 · 교통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5AF0"/>
                </a:solidFill>
                <a:latin typeface="Malgun Gothic"/>
              </a:rPr>
              <a:t>02 위치 · 교통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A2E"/>
                </a:solidFill>
                <a:latin typeface="Malgun Gothic"/>
              </a:rPr>
              <a:t>위치 및 교통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6217920" cy="4206240"/>
          </a:xfrm>
          <a:prstGeom prst="rect">
            <a:avLst/>
          </a:prstGeom>
          <a:solidFill>
            <a:srgbClr val="E9EEF3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49039"/>
            <a:ext cx="6217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A6B0BB"/>
                </a:solidFill>
                <a:latin typeface="Malgun Gothic"/>
              </a:rPr>
              <a:t>네이버 지도 — 본매물 위치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1920240"/>
            <a:ext cx="658368" cy="310896"/>
          </a:xfrm>
          <a:prstGeom prst="rect">
            <a:avLst/>
          </a:prstGeom>
          <a:solidFill>
            <a:srgbClr val="D31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965960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신분당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1947672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F1A2E"/>
                </a:solidFill>
                <a:latin typeface="Malgun Gothic"/>
              </a:rPr>
              <a:t>신논현역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94767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0F1A2E"/>
                </a:solidFill>
                <a:latin typeface="Malgun Gothic"/>
              </a:rPr>
              <a:t>77m · 1분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0" y="2322576"/>
            <a:ext cx="4663440" cy="7315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0" y="2487168"/>
            <a:ext cx="658368" cy="310896"/>
          </a:xfrm>
          <a:prstGeom prst="rect">
            <a:avLst/>
          </a:prstGeom>
          <a:solidFill>
            <a:srgbClr val="BF8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0" y="2532888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9호선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251460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F1A2E"/>
                </a:solidFill>
                <a:latin typeface="Malgun Gothic"/>
              </a:rPr>
              <a:t>신논현역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0" y="251460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0F1A2E"/>
                </a:solidFill>
                <a:latin typeface="Malgun Gothic"/>
              </a:rPr>
              <a:t>77m · 1분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2889504"/>
            <a:ext cx="4663440" cy="7315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0" y="3054096"/>
            <a:ext cx="658368" cy="310896"/>
          </a:xfrm>
          <a:prstGeom prst="rect">
            <a:avLst/>
          </a:prstGeom>
          <a:solidFill>
            <a:srgbClr val="22B1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0" y="3099815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2호선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26679" y="3081527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F1A2E"/>
                </a:solidFill>
                <a:latin typeface="Malgun Gothic"/>
              </a:rPr>
              <a:t>강남역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3081527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0F1A2E"/>
                </a:solidFill>
                <a:latin typeface="Malgun Gothic"/>
              </a:rPr>
              <a:t>738m · 9분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0" y="3456432"/>
            <a:ext cx="4663440" cy="7315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0" y="3621024"/>
            <a:ext cx="658368" cy="310896"/>
          </a:xfrm>
          <a:prstGeom prst="rect">
            <a:avLst/>
          </a:prstGeom>
          <a:solidFill>
            <a:srgbClr val="3A4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3666744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버스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364845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F1A2E"/>
                </a:solidFill>
                <a:latin typeface="Malgun Gothic"/>
              </a:rPr>
              <a:t>신논현역4번출구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0" y="3648456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0F1A2E"/>
                </a:solidFill>
                <a:latin typeface="Malgun Gothic"/>
              </a:rPr>
              <a:t>27m · 1분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4023360"/>
            <a:ext cx="4663440" cy="7315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49440" y="4187952"/>
            <a:ext cx="658368" cy="310896"/>
          </a:xfrm>
          <a:prstGeom prst="rect">
            <a:avLst/>
          </a:prstGeom>
          <a:solidFill>
            <a:srgbClr val="3A46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49440" y="4233672"/>
            <a:ext cx="65836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버스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2153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0F1A2E"/>
                </a:solidFill>
                <a:latin typeface="Malgun Gothic"/>
              </a:rPr>
              <a:t>교보타워앞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4215384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>
                <a:solidFill>
                  <a:srgbClr val="0F1A2E"/>
                </a:solidFill>
                <a:latin typeface="Malgun Gothic"/>
              </a:rPr>
              <a:t>159m · 2분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49440" y="4590288"/>
            <a:ext cx="4663440" cy="7315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6528816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3AD"/>
                </a:solidFill>
                <a:latin typeface="Malgun Gothic"/>
              </a:rPr>
              <a:t>빌탐정 · BILLTAMJUNG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02375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B3BAC2"/>
                </a:solidFill>
                <a:latin typeface="Malgun Gothic"/>
              </a:rPr>
              <a:t>본 자료의 무단복제·유포·변경을 금합니다.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A2E"/>
                </a:solidFill>
                <a:latin typeface="Malgun Gothic"/>
              </a:rPr>
              <a:t>빌탐정 </a:t>
            </a:r>
            <a:r>
              <a:rPr sz="950" b="0">
                <a:solidFill>
                  <a:srgbClr val="3A4657"/>
                </a:solidFill>
                <a:latin typeface="Malgun Gothic"/>
              </a:rPr>
              <a:t>· 신뢰할 수 있는 부동산 파트너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1645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3A4657"/>
                </a:solidFill>
                <a:latin typeface="Malgun Gothic"/>
              </a:rPr>
              <a:t>03 · 전경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5AF0"/>
                </a:solidFill>
                <a:latin typeface="Malgun Gothic"/>
              </a:rPr>
              <a:t>03 전경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A2E"/>
                </a:solidFill>
                <a:latin typeface="Malgun Gothic"/>
              </a:rPr>
              <a:t>로드뷰 · 건물 전경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11155680" cy="4206240"/>
          </a:xfrm>
          <a:prstGeom prst="rect">
            <a:avLst/>
          </a:prstGeom>
          <a:solidFill>
            <a:srgbClr val="E9EEF3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749039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A6B0BB"/>
                </a:solidFill>
                <a:latin typeface="Malgun Gothic"/>
              </a:rPr>
              <a:t>네이버 로드뷰(거리뷰)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28816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3AD"/>
                </a:solidFill>
                <a:latin typeface="Malgun Gothic"/>
              </a:rPr>
              <a:t>빌탐정 · BILLTAMJUNG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2375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B3BAC2"/>
                </a:solidFill>
                <a:latin typeface="Malgun Gothic"/>
              </a:rPr>
              <a:t>본 자료의 무단복제·유포·변경을 금합니다.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A2E"/>
                </a:solidFill>
                <a:latin typeface="Malgun Gothic"/>
              </a:rPr>
              <a:t>빌탐정 </a:t>
            </a:r>
            <a:r>
              <a:rPr sz="950" b="0">
                <a:solidFill>
                  <a:srgbClr val="3A4657"/>
                </a:solidFill>
                <a:latin typeface="Malgun Gothic"/>
              </a:rPr>
              <a:t>· 신뢰할 수 있는 부동산 파트너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1645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3A4657"/>
                </a:solidFill>
                <a:latin typeface="Malgun Gothic"/>
              </a:rPr>
              <a:t>04 · 임대 내역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5AF0"/>
                </a:solidFill>
                <a:latin typeface="Malgun Gothic"/>
              </a:rPr>
              <a:t>04 임대 내역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A2E"/>
                </a:solidFill>
                <a:latin typeface="Malgun Gothic"/>
              </a:rPr>
              <a:t>층별 임대 내역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783080"/>
          <a:ext cx="111556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3668"/>
                <a:gridCol w="1593668"/>
                <a:gridCol w="1593668"/>
                <a:gridCol w="1593668"/>
                <a:gridCol w="1593668"/>
                <a:gridCol w="1593668"/>
                <a:gridCol w="1593672"/>
              </a:tblGrid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A4657"/>
                          </a:solidFill>
                          <a:latin typeface="Malgun Gothic"/>
                        </a:rPr>
                        <a:t>층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A4657"/>
                          </a:solidFill>
                          <a:latin typeface="Malgun Gothic"/>
                        </a:rPr>
                        <a:t>호실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A4657"/>
                          </a:solidFill>
                          <a:latin typeface="Malgun Gothic"/>
                        </a:rPr>
                        <a:t>계약면적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A4657"/>
                          </a:solidFill>
                          <a:latin typeface="Malgun Gothic"/>
                        </a:rPr>
                        <a:t>보증금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A4657"/>
                          </a:solidFill>
                          <a:latin typeface="Malgun Gothic"/>
                        </a:rPr>
                        <a:t>월임대료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A4657"/>
                          </a:solidFill>
                          <a:latin typeface="Malgun Gothic"/>
                        </a:rPr>
                        <a:t>월관리비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3A4657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>
                    <a:solidFill>
                      <a:srgbClr val="FAFBFC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3층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301호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62평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2억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600만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80만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2805C"/>
                          </a:solidFill>
                          <a:latin typeface="Malgun Gothic"/>
                        </a:rPr>
                        <a:t>임대중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2층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201호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67평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2억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650만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85만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2805C"/>
                          </a:solidFill>
                          <a:latin typeface="Malgun Gothic"/>
                        </a:rPr>
                        <a:t>임대중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1층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101호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65평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3억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1,000만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100만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2805C"/>
                          </a:solidFill>
                          <a:latin typeface="Malgun Gothic"/>
                        </a:rPr>
                        <a:t>임대중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지하1층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B101호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65평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0F1A2E"/>
                          </a:solidFill>
                          <a:latin typeface="Malgun Gothic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DC2F30"/>
                          </a:solidFill>
                          <a:latin typeface="Malgun Gothic"/>
                        </a:rPr>
                        <a:t>공실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합계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7억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2,250만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>265만</a:t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1A2E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>
                    <a:solidFill>
                      <a:srgbClr val="F5F8FC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50292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A4657"/>
                </a:solidFill>
                <a:latin typeface="Malgun Gothic"/>
              </a:rPr>
              <a:t>※ 임대 내역은 임대인 진술 기준 · 월임대료 부가세 별도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528816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3AD"/>
                </a:solidFill>
                <a:latin typeface="Malgun Gothic"/>
              </a:rPr>
              <a:t>빌탐정 · BILLTAMJUNG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2375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B3BAC2"/>
                </a:solidFill>
                <a:latin typeface="Malgun Gothic"/>
              </a:rPr>
              <a:t>본 자료의 무단복제·유포·변경을 금합니다.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4630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A2E"/>
                </a:solidFill>
                <a:latin typeface="Malgun Gothic"/>
              </a:rPr>
              <a:t>빌탐정 </a:t>
            </a:r>
            <a:r>
              <a:rPr sz="950" b="0">
                <a:solidFill>
                  <a:srgbClr val="3A4657"/>
                </a:solidFill>
                <a:latin typeface="Malgun Gothic"/>
              </a:rPr>
              <a:t>· 신뢰할 수 있는 부동산 파트너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31175" y="16459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3A4657"/>
                </a:solidFill>
                <a:latin typeface="Malgun Gothic"/>
              </a:rPr>
              <a:t>05 · 사진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66928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E5AF0"/>
                </a:solidFill>
                <a:latin typeface="Malgun Gothic"/>
              </a:rPr>
              <a:t>05 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A2E"/>
                </a:solidFill>
                <a:latin typeface="Malgun Gothic"/>
              </a:rPr>
              <a:t>건물 · 내부 사진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3566160" cy="4023360"/>
          </a:xfrm>
          <a:prstGeom prst="rect">
            <a:avLst/>
          </a:prstGeom>
          <a:solidFill>
            <a:srgbClr val="E9EEF3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657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A6B0BB"/>
                </a:solidFill>
                <a:latin typeface="Malgun Gothic"/>
              </a:rPr>
              <a:t>외관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70248" y="1783080"/>
            <a:ext cx="3566160" cy="4023360"/>
          </a:xfrm>
          <a:prstGeom prst="rect">
            <a:avLst/>
          </a:prstGeom>
          <a:solidFill>
            <a:srgbClr val="E9EEF3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0248" y="3657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A6B0BB"/>
                </a:solidFill>
                <a:latin typeface="Malgun Gothic"/>
              </a:rPr>
              <a:t>1층 상가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37576" y="1783080"/>
            <a:ext cx="3566160" cy="4023360"/>
          </a:xfrm>
          <a:prstGeom prst="rect">
            <a:avLst/>
          </a:prstGeom>
          <a:solidFill>
            <a:srgbClr val="E9EEF3"/>
          </a:solidFill>
          <a:ln w="9525">
            <a:solidFill>
              <a:srgbClr val="E3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37576" y="365760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A6B0BB"/>
                </a:solidFill>
                <a:latin typeface="Malgun Gothic"/>
              </a:rPr>
              <a:t>내부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528816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3AD"/>
                </a:solidFill>
                <a:latin typeface="Malgun Gothic"/>
              </a:rPr>
              <a:t>빌탐정 · BILLTAMJUNG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2375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B3BAC2"/>
                </a:solidFill>
                <a:latin typeface="Malgun Gothic"/>
              </a:rPr>
              <a:t>본 자료의 무단복제·유포·변경을 금합니다.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F1A2E"/>
                </a:solidFill>
                <a:latin typeface="Malgun Gothic"/>
              </a:rPr>
              <a:t>성공적인 투자, </a:t>
            </a:r>
            <a:r>
              <a:rPr sz="3000" b="1">
                <a:solidFill>
                  <a:srgbClr val="1E5AF0"/>
                </a:solidFill>
                <a:latin typeface="Malgun Gothic"/>
              </a:rPr>
              <a:t>빌탐정</a:t>
            </a:r>
            <a:r>
              <a:rPr sz="3000" b="1">
                <a:solidFill>
                  <a:srgbClr val="0F1A2E"/>
                </a:solidFill>
                <a:latin typeface="Malgun Gothic"/>
              </a:rPr>
              <a:t>이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56616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42505F"/>
                </a:solidFill>
                <a:latin typeface="Malgun Gothic"/>
              </a:rPr>
              <a:t>탐정공인중개사사무소 · 담당 </a:t>
            </a:r>
            <a:r>
              <a:rPr sz="1300" b="1">
                <a:solidFill>
                  <a:srgbClr val="0F1A2E"/>
                </a:solidFill>
                <a:latin typeface="Malgun Gothic"/>
              </a:rPr>
              <a:t>이승욱
</a:t>
            </a:r>
            <a:r>
              <a:rPr sz="1300" b="0">
                <a:solidFill>
                  <a:srgbClr val="42505F"/>
                </a:solidFill>
                <a:latin typeface="Malgun Gothic"/>
              </a:rPr>
              <a:t>010-****-1234 · coms1768@gmail.com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55664"/>
            <a:ext cx="12191695" cy="10972"/>
          </a:xfrm>
          <a:prstGeom prst="rect">
            <a:avLst/>
          </a:prstGeom>
          <a:solidFill>
            <a:srgbClr val="E3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457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9AA3AD"/>
                </a:solidFill>
                <a:latin typeface="Malgun Gothic"/>
              </a:rPr>
              <a:t>빌탐정 · BILLTAMJUNG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02375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B3BAC2"/>
                </a:solidFill>
                <a:latin typeface="Malgun Gothic"/>
              </a:rPr>
              <a:t>본 자료의 무단복제·유포·변경을 금합니다.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2375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B3BAC2"/>
                </a:solidFill>
                <a:latin typeface="Malgun Gothic"/>
              </a:rPr>
              <a:t>Report No. BT-2026-000118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